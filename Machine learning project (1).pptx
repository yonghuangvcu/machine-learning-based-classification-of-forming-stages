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4" r:id="rId6"/>
    <p:sldId id="277" r:id="rId7"/>
    <p:sldId id="265" r:id="rId8"/>
    <p:sldId id="267" r:id="rId9"/>
    <p:sldId id="278" r:id="rId10"/>
    <p:sldId id="280" r:id="rId11"/>
    <p:sldId id="282" r:id="rId12"/>
    <p:sldId id="283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984" userDrawn="1">
          <p15:clr>
            <a:srgbClr val="A4A3A4"/>
          </p15:clr>
        </p15:guide>
        <p15:guide id="4" orient="horz" pos="24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52FA4C-F390-4EB1-9E96-B3595356AD0A}" v="12" dt="2024-11-12T17:37:57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2" autoAdjust="0"/>
  </p:normalViewPr>
  <p:slideViewPr>
    <p:cSldViewPr snapToGrid="0" showGuides="1">
      <p:cViewPr varScale="1">
        <p:scale>
          <a:sx n="70" d="100"/>
          <a:sy n="70" d="100"/>
        </p:scale>
        <p:origin x="2166" y="846"/>
      </p:cViewPr>
      <p:guideLst>
        <p:guide orient="horz" pos="912"/>
        <p:guide pos="3840"/>
        <p:guide orient="horz" pos="3984"/>
        <p:guide orient="horz" pos="24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66" d="100"/>
          <a:sy n="66" d="100"/>
        </p:scale>
        <p:origin x="333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B5CE0B-E160-477E-AE5D-0B31F1AC01FB}" type="doc">
      <dgm:prSet loTypeId="urn:microsoft.com/office/officeart/2005/8/layout/hProcess3" loCatId="process" qsTypeId="urn:microsoft.com/office/officeart/2005/8/quickstyle/simple1" qsCatId="simple" csTypeId="urn:microsoft.com/office/officeart/2005/8/colors/accent1_2" csCatId="accent1" phldr="1"/>
      <dgm:spPr/>
    </dgm:pt>
    <dgm:pt modelId="{3AA5078C-A3C4-4BDC-A8FF-69B5D34E1674}">
      <dgm:prSet phldrT="[Text]" custT="1"/>
      <dgm:spPr/>
      <dgm:t>
        <a:bodyPr/>
        <a:lstStyle/>
        <a:p>
          <a:r>
            <a:rPr lang="en-US" altLang="zh-CN" sz="1050" b="1" dirty="0">
              <a:solidFill>
                <a:srgbClr val="FFFF00"/>
              </a:solidFill>
            </a:rPr>
            <a:t>Deleted unnecessary Columns</a:t>
          </a:r>
          <a:endParaRPr lang="zh-CN" altLang="en-US" sz="1050" b="1" dirty="0">
            <a:solidFill>
              <a:srgbClr val="FFFF00"/>
            </a:solidFill>
          </a:endParaRPr>
        </a:p>
      </dgm:t>
    </dgm:pt>
    <dgm:pt modelId="{1CED61D9-6F65-4DD9-8556-DFD0F906B18A}" type="parTrans" cxnId="{5AEF70E4-BA15-4AD8-9456-1829F6FDD501}">
      <dgm:prSet/>
      <dgm:spPr/>
      <dgm:t>
        <a:bodyPr/>
        <a:lstStyle/>
        <a:p>
          <a:endParaRPr lang="zh-CN" altLang="en-US"/>
        </a:p>
      </dgm:t>
    </dgm:pt>
    <dgm:pt modelId="{DEC4C365-2092-4D13-8981-9F7EAE74E037}" type="sibTrans" cxnId="{5AEF70E4-BA15-4AD8-9456-1829F6FDD501}">
      <dgm:prSet/>
      <dgm:spPr/>
      <dgm:t>
        <a:bodyPr/>
        <a:lstStyle/>
        <a:p>
          <a:endParaRPr lang="zh-CN" altLang="en-US"/>
        </a:p>
      </dgm:t>
    </dgm:pt>
    <dgm:pt modelId="{6D0CD241-01CE-486D-AC68-76A8C57C4C76}">
      <dgm:prSet phldrT="[Text]" custT="1"/>
      <dgm:spPr/>
      <dgm:t>
        <a:bodyPr/>
        <a:lstStyle/>
        <a:p>
          <a:r>
            <a:rPr lang="en-US" altLang="zh-CN" sz="1050" b="1" dirty="0">
              <a:solidFill>
                <a:srgbClr val="FFFF00"/>
              </a:solidFill>
            </a:rPr>
            <a:t>Simplified columns‘ </a:t>
          </a:r>
        </a:p>
        <a:p>
          <a:r>
            <a:rPr lang="en-US" altLang="zh-CN" sz="1050" b="1" dirty="0">
              <a:solidFill>
                <a:srgbClr val="FFFF00"/>
              </a:solidFill>
            </a:rPr>
            <a:t>name</a:t>
          </a:r>
          <a:endParaRPr lang="zh-CN" altLang="en-US" sz="1050" b="1" dirty="0">
            <a:solidFill>
              <a:srgbClr val="FFFF00"/>
            </a:solidFill>
          </a:endParaRPr>
        </a:p>
      </dgm:t>
    </dgm:pt>
    <dgm:pt modelId="{12313B1B-E4C0-4A98-B4D3-A010A58F4FD4}" type="parTrans" cxnId="{350C882F-8C12-4D50-90E5-0E9EF0FE6C1E}">
      <dgm:prSet/>
      <dgm:spPr/>
      <dgm:t>
        <a:bodyPr/>
        <a:lstStyle/>
        <a:p>
          <a:endParaRPr lang="zh-CN" altLang="en-US"/>
        </a:p>
      </dgm:t>
    </dgm:pt>
    <dgm:pt modelId="{8174F000-1440-44D4-AB75-59C75AADDF20}" type="sibTrans" cxnId="{350C882F-8C12-4D50-90E5-0E9EF0FE6C1E}">
      <dgm:prSet/>
      <dgm:spPr/>
      <dgm:t>
        <a:bodyPr/>
        <a:lstStyle/>
        <a:p>
          <a:endParaRPr lang="zh-CN" altLang="en-US"/>
        </a:p>
      </dgm:t>
    </dgm:pt>
    <dgm:pt modelId="{617E1354-C4F9-4603-8188-38E87BB4CDA2}">
      <dgm:prSet phldrT="[Text]"/>
      <dgm:spPr/>
      <dgm:t>
        <a:bodyPr/>
        <a:lstStyle/>
        <a:p>
          <a:endParaRPr lang="zh-CN" altLang="en-US" dirty="0"/>
        </a:p>
      </dgm:t>
    </dgm:pt>
    <dgm:pt modelId="{E34C71C1-D03C-4B57-97B4-C66B7535F30A}" type="parTrans" cxnId="{BBD97C2E-E803-4042-B3A3-9C59F3E6B308}">
      <dgm:prSet/>
      <dgm:spPr/>
      <dgm:t>
        <a:bodyPr/>
        <a:lstStyle/>
        <a:p>
          <a:endParaRPr lang="zh-CN" altLang="en-US"/>
        </a:p>
      </dgm:t>
    </dgm:pt>
    <dgm:pt modelId="{9F9B2E88-DDD4-42C0-8480-7CA55CBFCDEC}" type="sibTrans" cxnId="{BBD97C2E-E803-4042-B3A3-9C59F3E6B308}">
      <dgm:prSet/>
      <dgm:spPr/>
      <dgm:t>
        <a:bodyPr/>
        <a:lstStyle/>
        <a:p>
          <a:endParaRPr lang="zh-CN" altLang="en-US"/>
        </a:p>
      </dgm:t>
    </dgm:pt>
    <dgm:pt modelId="{E57764EE-71F6-40A7-96F7-CB1ABC425A03}">
      <dgm:prSet phldrT="[Text]" custT="1"/>
      <dgm:spPr/>
      <dgm:t>
        <a:bodyPr/>
        <a:lstStyle/>
        <a:p>
          <a:r>
            <a:rPr lang="en-US" altLang="zh-CN" sz="1050" b="1" dirty="0">
              <a:solidFill>
                <a:srgbClr val="FFFF00"/>
              </a:solidFill>
            </a:rPr>
            <a:t>Added additional Column: Thinning</a:t>
          </a:r>
          <a:endParaRPr lang="zh-CN" altLang="en-US" sz="1050" b="1" dirty="0">
            <a:solidFill>
              <a:srgbClr val="FFFF00"/>
            </a:solidFill>
          </a:endParaRPr>
        </a:p>
      </dgm:t>
    </dgm:pt>
    <dgm:pt modelId="{BB3CDB55-D513-414F-BD4E-EDAEE58AB420}" type="parTrans" cxnId="{D6DE9B1C-E273-470B-B086-2DAC6D4E9E06}">
      <dgm:prSet/>
      <dgm:spPr/>
      <dgm:t>
        <a:bodyPr/>
        <a:lstStyle/>
        <a:p>
          <a:endParaRPr lang="zh-CN" altLang="en-US"/>
        </a:p>
      </dgm:t>
    </dgm:pt>
    <dgm:pt modelId="{D1861B0B-EBF8-49CE-B609-E4D39978A34B}" type="sibTrans" cxnId="{D6DE9B1C-E273-470B-B086-2DAC6D4E9E06}">
      <dgm:prSet/>
      <dgm:spPr/>
      <dgm:t>
        <a:bodyPr/>
        <a:lstStyle/>
        <a:p>
          <a:endParaRPr lang="zh-CN" altLang="en-US"/>
        </a:p>
      </dgm:t>
    </dgm:pt>
    <dgm:pt modelId="{B2B79996-0F9D-4AEE-92CE-5071E8B5236F}" type="pres">
      <dgm:prSet presAssocID="{A9B5CE0B-E160-477E-AE5D-0B31F1AC01FB}" presName="Name0" presStyleCnt="0">
        <dgm:presLayoutVars>
          <dgm:dir/>
          <dgm:animLvl val="lvl"/>
          <dgm:resizeHandles val="exact"/>
        </dgm:presLayoutVars>
      </dgm:prSet>
      <dgm:spPr/>
    </dgm:pt>
    <dgm:pt modelId="{18524498-BD1B-4FD8-9767-1B64BAE875CC}" type="pres">
      <dgm:prSet presAssocID="{A9B5CE0B-E160-477E-AE5D-0B31F1AC01FB}" presName="dummy" presStyleCnt="0"/>
      <dgm:spPr/>
    </dgm:pt>
    <dgm:pt modelId="{808B4062-38C6-4D88-A171-C8E996CBB1F7}" type="pres">
      <dgm:prSet presAssocID="{A9B5CE0B-E160-477E-AE5D-0B31F1AC01FB}" presName="linH" presStyleCnt="0"/>
      <dgm:spPr/>
    </dgm:pt>
    <dgm:pt modelId="{BBDA6928-871C-433C-AA30-B974233F9D7C}" type="pres">
      <dgm:prSet presAssocID="{A9B5CE0B-E160-477E-AE5D-0B31F1AC01FB}" presName="padding1" presStyleCnt="0"/>
      <dgm:spPr/>
    </dgm:pt>
    <dgm:pt modelId="{2590B9DA-6DAF-4465-BFD7-C30C40B118D1}" type="pres">
      <dgm:prSet presAssocID="{3AA5078C-A3C4-4BDC-A8FF-69B5D34E1674}" presName="linV" presStyleCnt="0"/>
      <dgm:spPr/>
    </dgm:pt>
    <dgm:pt modelId="{BF78A3C1-379B-4886-A58F-82A3746B7C18}" type="pres">
      <dgm:prSet presAssocID="{3AA5078C-A3C4-4BDC-A8FF-69B5D34E1674}" presName="spVertical1" presStyleCnt="0"/>
      <dgm:spPr/>
    </dgm:pt>
    <dgm:pt modelId="{80D96775-E993-484A-A363-20B99F5B661B}" type="pres">
      <dgm:prSet presAssocID="{3AA5078C-A3C4-4BDC-A8FF-69B5D34E1674}" presName="parTx" presStyleLbl="revTx" presStyleIdx="0" presStyleCnt="4" custLinFactNeighborX="-134" custLinFactNeighborY="71258">
        <dgm:presLayoutVars>
          <dgm:chMax val="0"/>
          <dgm:chPref val="0"/>
          <dgm:bulletEnabled val="1"/>
        </dgm:presLayoutVars>
      </dgm:prSet>
      <dgm:spPr/>
    </dgm:pt>
    <dgm:pt modelId="{7C4B74ED-DF0B-48B7-82F7-777E0CDEAA27}" type="pres">
      <dgm:prSet presAssocID="{3AA5078C-A3C4-4BDC-A8FF-69B5D34E1674}" presName="spVertical2" presStyleCnt="0"/>
      <dgm:spPr/>
    </dgm:pt>
    <dgm:pt modelId="{3C42282B-F7D5-4608-BD11-C0474901FB4F}" type="pres">
      <dgm:prSet presAssocID="{3AA5078C-A3C4-4BDC-A8FF-69B5D34E1674}" presName="spVertical3" presStyleCnt="0"/>
      <dgm:spPr/>
    </dgm:pt>
    <dgm:pt modelId="{54EC28E1-AB6E-460E-B606-D0CBFCC855FC}" type="pres">
      <dgm:prSet presAssocID="{DEC4C365-2092-4D13-8981-9F7EAE74E037}" presName="space" presStyleCnt="0"/>
      <dgm:spPr/>
    </dgm:pt>
    <dgm:pt modelId="{47F52EE8-2EB7-4902-85BE-1F811AFF4264}" type="pres">
      <dgm:prSet presAssocID="{6D0CD241-01CE-486D-AC68-76A8C57C4C76}" presName="linV" presStyleCnt="0"/>
      <dgm:spPr/>
    </dgm:pt>
    <dgm:pt modelId="{1759F7D1-DB5F-402F-A885-D1D53C54BF02}" type="pres">
      <dgm:prSet presAssocID="{6D0CD241-01CE-486D-AC68-76A8C57C4C76}" presName="spVertical1" presStyleCnt="0"/>
      <dgm:spPr/>
    </dgm:pt>
    <dgm:pt modelId="{54A5B3DA-12F0-4B09-80BD-EA8BD52FD115}" type="pres">
      <dgm:prSet presAssocID="{6D0CD241-01CE-486D-AC68-76A8C57C4C76}" presName="parTx" presStyleLbl="revTx" presStyleIdx="1" presStyleCnt="4" custLinFactNeighborX="5773" custLinFactNeighborY="44479">
        <dgm:presLayoutVars>
          <dgm:chMax val="0"/>
          <dgm:chPref val="0"/>
          <dgm:bulletEnabled val="1"/>
        </dgm:presLayoutVars>
      </dgm:prSet>
      <dgm:spPr/>
    </dgm:pt>
    <dgm:pt modelId="{FB91ECDA-9899-473D-8600-F8EE17722B47}" type="pres">
      <dgm:prSet presAssocID="{6D0CD241-01CE-486D-AC68-76A8C57C4C76}" presName="spVertical2" presStyleCnt="0"/>
      <dgm:spPr/>
    </dgm:pt>
    <dgm:pt modelId="{A6E42A7D-05A2-48B2-BABE-138C68BB4A09}" type="pres">
      <dgm:prSet presAssocID="{6D0CD241-01CE-486D-AC68-76A8C57C4C76}" presName="spVertical3" presStyleCnt="0"/>
      <dgm:spPr/>
    </dgm:pt>
    <dgm:pt modelId="{A146AE26-A560-4515-A7A2-1F215318BF7B}" type="pres">
      <dgm:prSet presAssocID="{8174F000-1440-44D4-AB75-59C75AADDF20}" presName="space" presStyleCnt="0"/>
      <dgm:spPr/>
    </dgm:pt>
    <dgm:pt modelId="{8A542FC5-D1F6-4259-B285-403984FB9443}" type="pres">
      <dgm:prSet presAssocID="{E57764EE-71F6-40A7-96F7-CB1ABC425A03}" presName="linV" presStyleCnt="0"/>
      <dgm:spPr/>
    </dgm:pt>
    <dgm:pt modelId="{C0C4EA33-6D2A-4E6C-BF88-398FC34BC121}" type="pres">
      <dgm:prSet presAssocID="{E57764EE-71F6-40A7-96F7-CB1ABC425A03}" presName="spVertical1" presStyleCnt="0"/>
      <dgm:spPr/>
    </dgm:pt>
    <dgm:pt modelId="{CE6BB254-CFB8-4474-821C-02F45D9AAC65}" type="pres">
      <dgm:prSet presAssocID="{E57764EE-71F6-40A7-96F7-CB1ABC425A03}" presName="parTx" presStyleLbl="revTx" presStyleIdx="2" presStyleCnt="4" custScaleY="53088" custLinFactNeighborX="26470" custLinFactNeighborY="90896">
        <dgm:presLayoutVars>
          <dgm:chMax val="0"/>
          <dgm:chPref val="0"/>
          <dgm:bulletEnabled val="1"/>
        </dgm:presLayoutVars>
      </dgm:prSet>
      <dgm:spPr/>
    </dgm:pt>
    <dgm:pt modelId="{54CFEA52-C5CE-4D6D-8582-56BC20D9BD55}" type="pres">
      <dgm:prSet presAssocID="{E57764EE-71F6-40A7-96F7-CB1ABC425A03}" presName="spVertical2" presStyleCnt="0"/>
      <dgm:spPr/>
    </dgm:pt>
    <dgm:pt modelId="{5E97F68E-97E0-41E9-95F4-A818154693AC}" type="pres">
      <dgm:prSet presAssocID="{E57764EE-71F6-40A7-96F7-CB1ABC425A03}" presName="spVertical3" presStyleCnt="0"/>
      <dgm:spPr/>
    </dgm:pt>
    <dgm:pt modelId="{C791FD36-D461-41FD-AEF8-B102C96BAF4F}" type="pres">
      <dgm:prSet presAssocID="{D1861B0B-EBF8-49CE-B609-E4D39978A34B}" presName="space" presStyleCnt="0"/>
      <dgm:spPr/>
    </dgm:pt>
    <dgm:pt modelId="{9371AF19-608F-4DF8-9315-6C3B2BD5EA27}" type="pres">
      <dgm:prSet presAssocID="{617E1354-C4F9-4603-8188-38E87BB4CDA2}" presName="linV" presStyleCnt="0"/>
      <dgm:spPr/>
    </dgm:pt>
    <dgm:pt modelId="{AF9A8C51-8B13-41C2-9959-6026337168F3}" type="pres">
      <dgm:prSet presAssocID="{617E1354-C4F9-4603-8188-38E87BB4CDA2}" presName="spVertical1" presStyleCnt="0"/>
      <dgm:spPr/>
    </dgm:pt>
    <dgm:pt modelId="{0C80DF35-A7F7-4B21-95E6-925A18090384}" type="pres">
      <dgm:prSet presAssocID="{617E1354-C4F9-4603-8188-38E87BB4CDA2}" presName="parTx" presStyleLbl="revTx" presStyleIdx="3" presStyleCnt="4">
        <dgm:presLayoutVars>
          <dgm:chMax val="0"/>
          <dgm:chPref val="0"/>
          <dgm:bulletEnabled val="1"/>
        </dgm:presLayoutVars>
      </dgm:prSet>
      <dgm:spPr/>
    </dgm:pt>
    <dgm:pt modelId="{26AA0CBD-CBCD-43C5-A2F8-27AFE7A1A179}" type="pres">
      <dgm:prSet presAssocID="{617E1354-C4F9-4603-8188-38E87BB4CDA2}" presName="spVertical2" presStyleCnt="0"/>
      <dgm:spPr/>
    </dgm:pt>
    <dgm:pt modelId="{BEF1828B-0183-4DE2-977B-825F60A4C417}" type="pres">
      <dgm:prSet presAssocID="{617E1354-C4F9-4603-8188-38E87BB4CDA2}" presName="spVertical3" presStyleCnt="0"/>
      <dgm:spPr/>
    </dgm:pt>
    <dgm:pt modelId="{C33C80F0-57B2-4307-A4F6-B4A482E0403C}" type="pres">
      <dgm:prSet presAssocID="{A9B5CE0B-E160-477E-AE5D-0B31F1AC01FB}" presName="padding2" presStyleCnt="0"/>
      <dgm:spPr/>
    </dgm:pt>
    <dgm:pt modelId="{E418DA93-7C30-4C91-9C2E-5CFE608DE021}" type="pres">
      <dgm:prSet presAssocID="{A9B5CE0B-E160-477E-AE5D-0B31F1AC01FB}" presName="negArrow" presStyleCnt="0"/>
      <dgm:spPr/>
    </dgm:pt>
    <dgm:pt modelId="{63D70410-2C98-4AB1-9569-F5B36BC1C772}" type="pres">
      <dgm:prSet presAssocID="{A9B5CE0B-E160-477E-AE5D-0B31F1AC01FB}" presName="backgroundArrow" presStyleLbl="node1" presStyleIdx="0" presStyleCnt="1" custScaleY="166040" custLinFactNeighborX="196" custLinFactNeighborY="14826"/>
      <dgm:spPr/>
    </dgm:pt>
  </dgm:ptLst>
  <dgm:cxnLst>
    <dgm:cxn modelId="{D6DE9B1C-E273-470B-B086-2DAC6D4E9E06}" srcId="{A9B5CE0B-E160-477E-AE5D-0B31F1AC01FB}" destId="{E57764EE-71F6-40A7-96F7-CB1ABC425A03}" srcOrd="2" destOrd="0" parTransId="{BB3CDB55-D513-414F-BD4E-EDAEE58AB420}" sibTransId="{D1861B0B-EBF8-49CE-B609-E4D39978A34B}"/>
    <dgm:cxn modelId="{BBD97C2E-E803-4042-B3A3-9C59F3E6B308}" srcId="{A9B5CE0B-E160-477E-AE5D-0B31F1AC01FB}" destId="{617E1354-C4F9-4603-8188-38E87BB4CDA2}" srcOrd="3" destOrd="0" parTransId="{E34C71C1-D03C-4B57-97B4-C66B7535F30A}" sibTransId="{9F9B2E88-DDD4-42C0-8480-7CA55CBFCDEC}"/>
    <dgm:cxn modelId="{350C882F-8C12-4D50-90E5-0E9EF0FE6C1E}" srcId="{A9B5CE0B-E160-477E-AE5D-0B31F1AC01FB}" destId="{6D0CD241-01CE-486D-AC68-76A8C57C4C76}" srcOrd="1" destOrd="0" parTransId="{12313B1B-E4C0-4A98-B4D3-A010A58F4FD4}" sibTransId="{8174F000-1440-44D4-AB75-59C75AADDF20}"/>
    <dgm:cxn modelId="{BA671F9C-F6E5-41C7-AD21-26D0F8254E69}" type="presOf" srcId="{6D0CD241-01CE-486D-AC68-76A8C57C4C76}" destId="{54A5B3DA-12F0-4B09-80BD-EA8BD52FD115}" srcOrd="0" destOrd="0" presId="urn:microsoft.com/office/officeart/2005/8/layout/hProcess3"/>
    <dgm:cxn modelId="{B4EC7FB4-0C91-4D0E-82B3-92266026ECA5}" type="presOf" srcId="{E57764EE-71F6-40A7-96F7-CB1ABC425A03}" destId="{CE6BB254-CFB8-4474-821C-02F45D9AAC65}" srcOrd="0" destOrd="0" presId="urn:microsoft.com/office/officeart/2005/8/layout/hProcess3"/>
    <dgm:cxn modelId="{CCBC91C9-BF0D-4E82-9D9A-FC652FC3C28D}" type="presOf" srcId="{3AA5078C-A3C4-4BDC-A8FF-69B5D34E1674}" destId="{80D96775-E993-484A-A363-20B99F5B661B}" srcOrd="0" destOrd="0" presId="urn:microsoft.com/office/officeart/2005/8/layout/hProcess3"/>
    <dgm:cxn modelId="{190372D5-ACC6-4CAC-AA05-7D61DD979B30}" type="presOf" srcId="{617E1354-C4F9-4603-8188-38E87BB4CDA2}" destId="{0C80DF35-A7F7-4B21-95E6-925A18090384}" srcOrd="0" destOrd="0" presId="urn:microsoft.com/office/officeart/2005/8/layout/hProcess3"/>
    <dgm:cxn modelId="{BF1697D7-558D-43B3-98F6-92DE0C59B2BA}" type="presOf" srcId="{A9B5CE0B-E160-477E-AE5D-0B31F1AC01FB}" destId="{B2B79996-0F9D-4AEE-92CE-5071E8B5236F}" srcOrd="0" destOrd="0" presId="urn:microsoft.com/office/officeart/2005/8/layout/hProcess3"/>
    <dgm:cxn modelId="{5AEF70E4-BA15-4AD8-9456-1829F6FDD501}" srcId="{A9B5CE0B-E160-477E-AE5D-0B31F1AC01FB}" destId="{3AA5078C-A3C4-4BDC-A8FF-69B5D34E1674}" srcOrd="0" destOrd="0" parTransId="{1CED61D9-6F65-4DD9-8556-DFD0F906B18A}" sibTransId="{DEC4C365-2092-4D13-8981-9F7EAE74E037}"/>
    <dgm:cxn modelId="{91527BFA-12C9-44C2-8313-276A9382922B}" type="presParOf" srcId="{B2B79996-0F9D-4AEE-92CE-5071E8B5236F}" destId="{18524498-BD1B-4FD8-9767-1B64BAE875CC}" srcOrd="0" destOrd="0" presId="urn:microsoft.com/office/officeart/2005/8/layout/hProcess3"/>
    <dgm:cxn modelId="{E756D67E-C0CF-42F1-8DC0-44CEDF163295}" type="presParOf" srcId="{B2B79996-0F9D-4AEE-92CE-5071E8B5236F}" destId="{808B4062-38C6-4D88-A171-C8E996CBB1F7}" srcOrd="1" destOrd="0" presId="urn:microsoft.com/office/officeart/2005/8/layout/hProcess3"/>
    <dgm:cxn modelId="{3C26F4FE-52F9-48AA-9122-53E491C68124}" type="presParOf" srcId="{808B4062-38C6-4D88-A171-C8E996CBB1F7}" destId="{BBDA6928-871C-433C-AA30-B974233F9D7C}" srcOrd="0" destOrd="0" presId="urn:microsoft.com/office/officeart/2005/8/layout/hProcess3"/>
    <dgm:cxn modelId="{6AF8A0B7-44AF-4BA0-BFCE-2B0296D2127F}" type="presParOf" srcId="{808B4062-38C6-4D88-A171-C8E996CBB1F7}" destId="{2590B9DA-6DAF-4465-BFD7-C30C40B118D1}" srcOrd="1" destOrd="0" presId="urn:microsoft.com/office/officeart/2005/8/layout/hProcess3"/>
    <dgm:cxn modelId="{E6CCA18D-820B-46E3-A945-64A1214054C4}" type="presParOf" srcId="{2590B9DA-6DAF-4465-BFD7-C30C40B118D1}" destId="{BF78A3C1-379B-4886-A58F-82A3746B7C18}" srcOrd="0" destOrd="0" presId="urn:microsoft.com/office/officeart/2005/8/layout/hProcess3"/>
    <dgm:cxn modelId="{D7554993-C269-448C-9C7C-42CFCFD71615}" type="presParOf" srcId="{2590B9DA-6DAF-4465-BFD7-C30C40B118D1}" destId="{80D96775-E993-484A-A363-20B99F5B661B}" srcOrd="1" destOrd="0" presId="urn:microsoft.com/office/officeart/2005/8/layout/hProcess3"/>
    <dgm:cxn modelId="{68BE9050-43FC-4C4C-A635-98D1A09C4FED}" type="presParOf" srcId="{2590B9DA-6DAF-4465-BFD7-C30C40B118D1}" destId="{7C4B74ED-DF0B-48B7-82F7-777E0CDEAA27}" srcOrd="2" destOrd="0" presId="urn:microsoft.com/office/officeart/2005/8/layout/hProcess3"/>
    <dgm:cxn modelId="{C75E683F-1A08-4BCE-A31E-DEB7CF23F7DC}" type="presParOf" srcId="{2590B9DA-6DAF-4465-BFD7-C30C40B118D1}" destId="{3C42282B-F7D5-4608-BD11-C0474901FB4F}" srcOrd="3" destOrd="0" presId="urn:microsoft.com/office/officeart/2005/8/layout/hProcess3"/>
    <dgm:cxn modelId="{E11F1F32-D358-4390-B5E1-3A89144DAB9D}" type="presParOf" srcId="{808B4062-38C6-4D88-A171-C8E996CBB1F7}" destId="{54EC28E1-AB6E-460E-B606-D0CBFCC855FC}" srcOrd="2" destOrd="0" presId="urn:microsoft.com/office/officeart/2005/8/layout/hProcess3"/>
    <dgm:cxn modelId="{91B2842E-1534-4AE7-8A03-6FACE49D14F6}" type="presParOf" srcId="{808B4062-38C6-4D88-A171-C8E996CBB1F7}" destId="{47F52EE8-2EB7-4902-85BE-1F811AFF4264}" srcOrd="3" destOrd="0" presId="urn:microsoft.com/office/officeart/2005/8/layout/hProcess3"/>
    <dgm:cxn modelId="{7AC117BF-D617-4FBB-BB55-F790BF0F300B}" type="presParOf" srcId="{47F52EE8-2EB7-4902-85BE-1F811AFF4264}" destId="{1759F7D1-DB5F-402F-A885-D1D53C54BF02}" srcOrd="0" destOrd="0" presId="urn:microsoft.com/office/officeart/2005/8/layout/hProcess3"/>
    <dgm:cxn modelId="{34B1A5FA-44B0-4D50-AA30-3F14FAAB69D2}" type="presParOf" srcId="{47F52EE8-2EB7-4902-85BE-1F811AFF4264}" destId="{54A5B3DA-12F0-4B09-80BD-EA8BD52FD115}" srcOrd="1" destOrd="0" presId="urn:microsoft.com/office/officeart/2005/8/layout/hProcess3"/>
    <dgm:cxn modelId="{A4BD523A-C0F9-48BA-8B9A-368E91D3543F}" type="presParOf" srcId="{47F52EE8-2EB7-4902-85BE-1F811AFF4264}" destId="{FB91ECDA-9899-473D-8600-F8EE17722B47}" srcOrd="2" destOrd="0" presId="urn:microsoft.com/office/officeart/2005/8/layout/hProcess3"/>
    <dgm:cxn modelId="{B0072E53-C892-4D84-A557-6071885AB919}" type="presParOf" srcId="{47F52EE8-2EB7-4902-85BE-1F811AFF4264}" destId="{A6E42A7D-05A2-48B2-BABE-138C68BB4A09}" srcOrd="3" destOrd="0" presId="urn:microsoft.com/office/officeart/2005/8/layout/hProcess3"/>
    <dgm:cxn modelId="{4EE69513-F68E-40FA-95F0-35763E61C562}" type="presParOf" srcId="{808B4062-38C6-4D88-A171-C8E996CBB1F7}" destId="{A146AE26-A560-4515-A7A2-1F215318BF7B}" srcOrd="4" destOrd="0" presId="urn:microsoft.com/office/officeart/2005/8/layout/hProcess3"/>
    <dgm:cxn modelId="{AC6CA25D-D58E-4F94-8BD0-93D8DA316EBC}" type="presParOf" srcId="{808B4062-38C6-4D88-A171-C8E996CBB1F7}" destId="{8A542FC5-D1F6-4259-B285-403984FB9443}" srcOrd="5" destOrd="0" presId="urn:microsoft.com/office/officeart/2005/8/layout/hProcess3"/>
    <dgm:cxn modelId="{BB6F36B0-F962-43BD-9D6C-B331E753266B}" type="presParOf" srcId="{8A542FC5-D1F6-4259-B285-403984FB9443}" destId="{C0C4EA33-6D2A-4E6C-BF88-398FC34BC121}" srcOrd="0" destOrd="0" presId="urn:microsoft.com/office/officeart/2005/8/layout/hProcess3"/>
    <dgm:cxn modelId="{84D0B079-8D79-47C4-9286-CE535CB2F1A2}" type="presParOf" srcId="{8A542FC5-D1F6-4259-B285-403984FB9443}" destId="{CE6BB254-CFB8-4474-821C-02F45D9AAC65}" srcOrd="1" destOrd="0" presId="urn:microsoft.com/office/officeart/2005/8/layout/hProcess3"/>
    <dgm:cxn modelId="{987E2CA7-D512-4BCA-84E3-C885C38A95D5}" type="presParOf" srcId="{8A542FC5-D1F6-4259-B285-403984FB9443}" destId="{54CFEA52-C5CE-4D6D-8582-56BC20D9BD55}" srcOrd="2" destOrd="0" presId="urn:microsoft.com/office/officeart/2005/8/layout/hProcess3"/>
    <dgm:cxn modelId="{9103162B-18F8-42CC-A4DE-96EC0672FF88}" type="presParOf" srcId="{8A542FC5-D1F6-4259-B285-403984FB9443}" destId="{5E97F68E-97E0-41E9-95F4-A818154693AC}" srcOrd="3" destOrd="0" presId="urn:microsoft.com/office/officeart/2005/8/layout/hProcess3"/>
    <dgm:cxn modelId="{58D9BB66-C5D3-46F1-AE47-90F81E13915D}" type="presParOf" srcId="{808B4062-38C6-4D88-A171-C8E996CBB1F7}" destId="{C791FD36-D461-41FD-AEF8-B102C96BAF4F}" srcOrd="6" destOrd="0" presId="urn:microsoft.com/office/officeart/2005/8/layout/hProcess3"/>
    <dgm:cxn modelId="{F6A7C2E2-BA4A-4ABE-9B5D-332422F0500C}" type="presParOf" srcId="{808B4062-38C6-4D88-A171-C8E996CBB1F7}" destId="{9371AF19-608F-4DF8-9315-6C3B2BD5EA27}" srcOrd="7" destOrd="0" presId="urn:microsoft.com/office/officeart/2005/8/layout/hProcess3"/>
    <dgm:cxn modelId="{0531DB81-86BC-48A4-B5D4-D549CB1AA534}" type="presParOf" srcId="{9371AF19-608F-4DF8-9315-6C3B2BD5EA27}" destId="{AF9A8C51-8B13-41C2-9959-6026337168F3}" srcOrd="0" destOrd="0" presId="urn:microsoft.com/office/officeart/2005/8/layout/hProcess3"/>
    <dgm:cxn modelId="{04730715-FB5C-4C82-85CE-572240676527}" type="presParOf" srcId="{9371AF19-608F-4DF8-9315-6C3B2BD5EA27}" destId="{0C80DF35-A7F7-4B21-95E6-925A18090384}" srcOrd="1" destOrd="0" presId="urn:microsoft.com/office/officeart/2005/8/layout/hProcess3"/>
    <dgm:cxn modelId="{DD6725EB-15FD-48DF-A704-323C3E119A23}" type="presParOf" srcId="{9371AF19-608F-4DF8-9315-6C3B2BD5EA27}" destId="{26AA0CBD-CBCD-43C5-A2F8-27AFE7A1A179}" srcOrd="2" destOrd="0" presId="urn:microsoft.com/office/officeart/2005/8/layout/hProcess3"/>
    <dgm:cxn modelId="{E3571458-6E48-4A4B-B5FE-68FE3DC8C7C6}" type="presParOf" srcId="{9371AF19-608F-4DF8-9315-6C3B2BD5EA27}" destId="{BEF1828B-0183-4DE2-977B-825F60A4C417}" srcOrd="3" destOrd="0" presId="urn:microsoft.com/office/officeart/2005/8/layout/hProcess3"/>
    <dgm:cxn modelId="{5F419C06-5180-4A32-909C-387358543B40}" type="presParOf" srcId="{808B4062-38C6-4D88-A171-C8E996CBB1F7}" destId="{C33C80F0-57B2-4307-A4F6-B4A482E0403C}" srcOrd="8" destOrd="0" presId="urn:microsoft.com/office/officeart/2005/8/layout/hProcess3"/>
    <dgm:cxn modelId="{6C9FA884-D046-4FC2-A69E-2AADCABA8E80}" type="presParOf" srcId="{808B4062-38C6-4D88-A171-C8E996CBB1F7}" destId="{E418DA93-7C30-4C91-9C2E-5CFE608DE021}" srcOrd="9" destOrd="0" presId="urn:microsoft.com/office/officeart/2005/8/layout/hProcess3"/>
    <dgm:cxn modelId="{9F434A40-4B46-4A27-8ABC-9DE41F3F5B85}" type="presParOf" srcId="{808B4062-38C6-4D88-A171-C8E996CBB1F7}" destId="{63D70410-2C98-4AB1-9569-F5B36BC1C772}" srcOrd="10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D70410-2C98-4AB1-9569-F5B36BC1C772}">
      <dsp:nvSpPr>
        <dsp:cNvPr id="0" name=""/>
        <dsp:cNvSpPr/>
      </dsp:nvSpPr>
      <dsp:spPr>
        <a:xfrm>
          <a:off x="11106" y="0"/>
          <a:ext cx="3783653" cy="1720261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80DF35-A7F7-4B21-95E6-925A18090384}">
      <dsp:nvSpPr>
        <dsp:cNvPr id="0" name=""/>
        <dsp:cNvSpPr/>
      </dsp:nvSpPr>
      <dsp:spPr>
        <a:xfrm>
          <a:off x="2736508" y="358274"/>
          <a:ext cx="674332" cy="715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0800" rIns="0" bIns="5080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 dirty="0"/>
        </a:p>
      </dsp:txBody>
      <dsp:txXfrm>
        <a:off x="2736508" y="358274"/>
        <a:ext cx="674332" cy="715976"/>
      </dsp:txXfrm>
    </dsp:sp>
    <dsp:sp modelId="{CE6BB254-CFB8-4474-821C-02F45D9AAC65}">
      <dsp:nvSpPr>
        <dsp:cNvPr id="0" name=""/>
        <dsp:cNvSpPr/>
      </dsp:nvSpPr>
      <dsp:spPr>
        <a:xfrm>
          <a:off x="2105805" y="683931"/>
          <a:ext cx="674332" cy="380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1760" rIns="0" bIns="10668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50" b="1" kern="1200" dirty="0">
              <a:solidFill>
                <a:srgbClr val="FFFF00"/>
              </a:solidFill>
            </a:rPr>
            <a:t>Added additional Column: Thinning</a:t>
          </a:r>
          <a:endParaRPr lang="zh-CN" altLang="en-US" sz="1050" b="1" kern="1200" dirty="0">
            <a:solidFill>
              <a:srgbClr val="FFFF00"/>
            </a:solidFill>
          </a:endParaRPr>
        </a:p>
      </dsp:txBody>
      <dsp:txXfrm>
        <a:off x="2105805" y="683931"/>
        <a:ext cx="674332" cy="380097"/>
      </dsp:txXfrm>
    </dsp:sp>
    <dsp:sp modelId="{54A5B3DA-12F0-4B09-80BD-EA8BD52FD115}">
      <dsp:nvSpPr>
        <dsp:cNvPr id="0" name=""/>
        <dsp:cNvSpPr/>
      </dsp:nvSpPr>
      <dsp:spPr>
        <a:xfrm>
          <a:off x="1157039" y="517630"/>
          <a:ext cx="674332" cy="715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1760" rIns="0" bIns="10668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50" b="1" kern="1200" dirty="0">
              <a:solidFill>
                <a:srgbClr val="FFFF00"/>
              </a:solidFill>
            </a:rPr>
            <a:t>Simplified columns‘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50" b="1" kern="1200" dirty="0">
              <a:solidFill>
                <a:srgbClr val="FFFF00"/>
              </a:solidFill>
            </a:rPr>
            <a:t>name</a:t>
          </a:r>
          <a:endParaRPr lang="zh-CN" altLang="en-US" sz="1050" b="1" kern="1200" dirty="0">
            <a:solidFill>
              <a:srgbClr val="FFFF00"/>
            </a:solidFill>
          </a:endParaRPr>
        </a:p>
      </dsp:txBody>
      <dsp:txXfrm>
        <a:off x="1157039" y="517630"/>
        <a:ext cx="674332" cy="715976"/>
      </dsp:txXfrm>
    </dsp:sp>
    <dsp:sp modelId="{80D96775-E993-484A-A363-20B99F5B661B}">
      <dsp:nvSpPr>
        <dsp:cNvPr id="0" name=""/>
        <dsp:cNvSpPr/>
      </dsp:nvSpPr>
      <dsp:spPr>
        <a:xfrm>
          <a:off x="308007" y="613573"/>
          <a:ext cx="674332" cy="715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1760" rIns="0" bIns="10668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050" b="1" kern="1200" dirty="0">
              <a:solidFill>
                <a:srgbClr val="FFFF00"/>
              </a:solidFill>
            </a:rPr>
            <a:t>Deleted unnecessary Columns</a:t>
          </a:r>
          <a:endParaRPr lang="zh-CN" altLang="en-US" sz="1050" b="1" kern="1200" dirty="0">
            <a:solidFill>
              <a:srgbClr val="FFFF00"/>
            </a:solidFill>
          </a:endParaRPr>
        </a:p>
      </dsp:txBody>
      <dsp:txXfrm>
        <a:off x="308007" y="613573"/>
        <a:ext cx="674332" cy="715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3F4313-9FCE-4A92-819A-FAD0FCF0E5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D8F2DB-1094-477F-B0A7-6AC3F2199E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F11738-7B43-4B42-A93F-63432E515165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06BA01-9EAD-49E8-91CF-2A395945EA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7E85C4-F9C1-42D8-B803-39C514A3B3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74F99-60BC-462F-82FF-AD0F7D3371E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195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00E-1A2E-4D2B-BADE-37753AB93090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226AB8-ACBE-42E6-92F5-667EDDCD96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577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26AB8-ACBE-42E6-92F5-667EDDCD965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28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DE7CA-1DA6-7115-E184-44ACC8CF9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3CBD8-6E51-6FDB-9BA3-1A18289A7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99A89-79C3-A2BA-0510-FC9211F35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A1CD3-297C-4D52-0A38-0D7040DC6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26AB8-ACBE-42E6-92F5-667EDDCD965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175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26AB8-ACBE-42E6-92F5-667EDDCD965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715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26AB8-ACBE-42E6-92F5-667EDDCD965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213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E9273-AB8C-2E16-50FF-D04A6BB2D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60F32-B746-7C09-DCA6-46BC8FC12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ADAA7-5D8E-22E3-0DD1-12867E10D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05AE4-C9A2-724C-63A2-05AD49AF1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26AB8-ACBE-42E6-92F5-667EDDCD965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879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F1C80-8753-7465-192A-E013BA45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5DFEB-E767-A82A-986E-C3188E19B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1EC24-978C-5A9B-E3D2-A103FDDE0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F348D-DC38-0FAF-628E-34E344256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26AB8-ACBE-42E6-92F5-667EDDCD965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084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F076E-624E-98F8-D162-45CBD204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11EC5-45D2-156A-3621-86B76226F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A3A801-1E9A-CD2C-FD4A-3C1EE3DB7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F8ADE-A98E-641E-43BB-F868C1762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26AB8-ACBE-42E6-92F5-667EDDCD965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232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226AB8-ACBE-42E6-92F5-667EDDCD965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39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BD421-E477-405A-91D4-9468DE9BE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024F0D-0F00-4C64-975C-BD7D4FE0E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0E03-CFD6-4610-88AC-17F03CE8E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0ACFF-56C3-4453-9BAD-A02FE717F83E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4536D-CBA9-4A34-85D3-481BD129E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1F8E3-036A-45B8-BF1F-BEF0C559E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955-6230-48B4-BD8B-A7C460F759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744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C47AB-DC6F-40F0-B4FB-9C0850EE0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939C5-683A-4FDC-A8CF-5F35848AD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FB5F0-A7AB-4ACB-91A6-4B836F174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0ACFF-56C3-4453-9BAD-A02FE717F83E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BCE02-CEFC-4D30-BBB0-23CE2CB5B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49760-3E16-4F16-B710-C85178E29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955-6230-48B4-BD8B-A7C460F759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804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EE07D-6026-47C0-975A-7E493011B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00015-2956-4E1F-B05F-214F1DE24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56B43-C1CB-4618-B91B-AAAEEB401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0ACFF-56C3-4453-9BAD-A02FE717F83E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88E39-E80F-4C18-9C2A-69886B822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C5964-5187-4195-8EAF-85D18DC4F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955-6230-48B4-BD8B-A7C460F759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915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7B990-ED8C-4AAA-8241-C4881B138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612F2-9E33-44D3-80E2-578C5440A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F7B21-660D-43B3-9151-B40C9ABCD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26A10-CB05-4418-9338-CB55A705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0ACFF-56C3-4453-9BAD-A02FE717F83E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40335-9BE1-42D1-A30D-C3232BD3E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95C68-4307-4B03-8921-74DB1041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955-6230-48B4-BD8B-A7C460F759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20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EBEC8-AC56-429B-89C3-BB6A0E6E3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866BA-F48C-4383-B119-81B349676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89F967-CBBC-414E-9DC3-136707A8D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905A60-FBC4-40AC-9F71-0FAD9CD7A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4F92BA-75D6-44F9-A1C8-BCFBF6FF6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93CDDC-3537-4692-BE83-87B2A82A7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0ACFF-56C3-4453-9BAD-A02FE717F83E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7B9E1-D5EA-4054-8D92-F930B3696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98A038-7CD6-4715-9FDA-7194E6BCA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955-6230-48B4-BD8B-A7C460F759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039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5FAF-B698-49B0-B197-FD64C97AF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3E3F44-F1D6-40F7-9A7D-0542C4A9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0ACFF-56C3-4453-9BAD-A02FE717F83E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8CC28-3F4A-42A0-B211-4BA085ADC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B6C99-6764-43D0-84AE-52C83494F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955-6230-48B4-BD8B-A7C460F759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6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79C79D-3B8A-4FA9-BC4A-63E3EF10A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0ACFF-56C3-4453-9BAD-A02FE717F83E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30E35-44DB-4FED-9E24-5BBE5D9D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DC42F-3337-4692-B53C-A55290487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955-6230-48B4-BD8B-A7C460F759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420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07D58-952D-44D7-9911-60544C9F5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BC150-9914-4A82-84CF-B3708B975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A7C02-9C7E-401F-BABE-D3028FF18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6080A-4623-4F4C-B5BF-7E9E7531F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0ACFF-56C3-4453-9BAD-A02FE717F83E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B1D15-0BD5-4F6E-A265-BD1F2F361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764D4-AA29-4DF8-A501-E2B904E9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955-6230-48B4-BD8B-A7C460F759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856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4D526-F53C-446D-8D7C-8A73C2A6A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41CC3D-D32B-4629-85B8-E779A4105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17242-BF08-4A5E-ABD7-483896CAE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2B8E4-DF23-4701-B28A-B9E5700B3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0ACFF-56C3-4453-9BAD-A02FE717F83E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DE909-4588-4CF5-B2FA-B76312433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A005E-65C2-4007-815C-52F23809F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955-6230-48B4-BD8B-A7C460F759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6B1F3-61FB-4FDC-814D-EEC1C1FC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2403B0-8D7F-4489-AB72-C346C8870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C9304-E5BD-4F3E-ADB0-974FEBCDE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0ACFF-56C3-4453-9BAD-A02FE717F83E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8AD29-D9CD-42D8-9604-C47996EE9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2C394-EF43-405B-9653-70AAB909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955-6230-48B4-BD8B-A7C460F759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452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D1E61D-2F00-41ED-8D92-7CAEB9A5A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47491-5142-48CA-9664-F5082D450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4576D-BE01-4BB5-A9F4-7DE4814E6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0ACFF-56C3-4453-9BAD-A02FE717F83E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0CA14-AD61-4101-9143-F7884378C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8B885-CFEA-4882-BBEA-C5F14208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955-6230-48B4-BD8B-A7C460F759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664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373118-F27D-412D-B19A-2DB8C810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37CCC-B536-48B0-B893-63FFC2EBD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E552F-73E7-48CE-AAB3-E947C535D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0ACFF-56C3-4453-9BAD-A02FE717F83E}" type="datetimeFigureOut">
              <a:rPr lang="en-US" smtClean="0"/>
              <a:t>12/3/2024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40B4F-2015-4E9F-BCB3-E0BFA4AF9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10C3C-BBD3-4864-98E4-5D7B08A62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A7955-6230-48B4-BD8B-A7C460F759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680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24slides.com/?utm_campaign=mp&amp;utm_medium=ppt&amp;utm_source=pptlink&amp;utm_content=&amp;utm_term=" TargetMode="Externa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8.pn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emf"/><Relationship Id="rId5" Type="http://schemas.openxmlformats.org/officeDocument/2006/relationships/hyperlink" Target="https://24slides.com/?utm_campaign=mp&amp;utm_medium=ppt&amp;utm_source=pptlink&amp;utm_content=&amp;utm_term=" TargetMode="Externa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AC4DC87-4412-47EA-869B-E290F40E52A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Balanced scorecard slide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AE457D-0397-41A5-A1CF-4C8062284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2100" y="362320"/>
            <a:ext cx="11607800" cy="61333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016AF48-2AA8-4B78-82AB-CE8B9E71F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701800"/>
            <a:ext cx="7023100" cy="345440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hlinkClick r:id="rId5"/>
            <a:extLst>
              <a:ext uri="{FF2B5EF4-FFF2-40B4-BE49-F238E27FC236}">
                <a16:creationId xmlns:a16="http://schemas.microsoft.com/office/drawing/2014/main" id="{FD739A43-7308-4A45-800C-2B124CABF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44100" y="4161794"/>
            <a:ext cx="1955800" cy="994405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C4CCBA-12AD-4433-A381-A03661E3D927}"/>
              </a:ext>
            </a:extLst>
          </p:cNvPr>
          <p:cNvSpPr txBox="1"/>
          <p:nvPr/>
        </p:nvSpPr>
        <p:spPr>
          <a:xfrm>
            <a:off x="781507" y="2249929"/>
            <a:ext cx="5786662" cy="184665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4000" b="1" dirty="0">
                <a:latin typeface="+mj-lt"/>
              </a:rPr>
              <a:t>to classify 5 different stages in the forming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36A3D0-7E17-30F7-6A9A-F4B8F7834083}"/>
              </a:ext>
            </a:extLst>
          </p:cNvPr>
          <p:cNvSpPr txBox="1"/>
          <p:nvPr/>
        </p:nvSpPr>
        <p:spPr>
          <a:xfrm>
            <a:off x="10266630" y="4481465"/>
            <a:ext cx="1548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Yong Huang</a:t>
            </a:r>
          </a:p>
        </p:txBody>
      </p:sp>
    </p:spTree>
    <p:extLst>
      <p:ext uri="{BB962C8B-B14F-4D97-AF65-F5344CB8AC3E}">
        <p14:creationId xmlns:p14="http://schemas.microsoft.com/office/powerpoint/2010/main" val="3623649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43167E-8662-097C-F33B-6A5AFF048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95" y="1059148"/>
            <a:ext cx="3876675" cy="3086100"/>
          </a:xfrm>
          <a:prstGeom prst="rect">
            <a:avLst/>
          </a:prstGeom>
        </p:spPr>
      </p:pic>
      <p:pic>
        <p:nvPicPr>
          <p:cNvPr id="4" name="Picture 3" descr="A black and white photo of a black circle">
            <a:extLst>
              <a:ext uri="{FF2B5EF4-FFF2-40B4-BE49-F238E27FC236}">
                <a16:creationId xmlns:a16="http://schemas.microsoft.com/office/drawing/2014/main" id="{49E14DB5-46EF-AB34-853E-A4F5072E8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18" y="4687910"/>
            <a:ext cx="6170467" cy="17309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881972-0DEF-3709-708E-36283B500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776" y="6468700"/>
            <a:ext cx="2581275" cy="4476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9CF0F6-1D15-CF9C-B377-EF22C2562A62}"/>
              </a:ext>
            </a:extLst>
          </p:cNvPr>
          <p:cNvSpPr txBox="1"/>
          <p:nvPr/>
        </p:nvSpPr>
        <p:spPr>
          <a:xfrm>
            <a:off x="584492" y="4145248"/>
            <a:ext cx="6616838" cy="6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</a:rPr>
              <a:t>The experiments of the forming process  of Aluminum alloy(5083) thin plate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1A44183-44BA-E9F3-D046-97F4B5CDC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2762" y="898725"/>
            <a:ext cx="5691677" cy="3285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4BF4E2-B570-F276-47B9-8AA1ACEA1F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4482" y="3857341"/>
            <a:ext cx="2857500" cy="29051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232407-2BB3-BC6F-376F-CD072839D528}"/>
              </a:ext>
            </a:extLst>
          </p:cNvPr>
          <p:cNvSpPr txBox="1"/>
          <p:nvPr/>
        </p:nvSpPr>
        <p:spPr>
          <a:xfrm>
            <a:off x="1463903" y="262649"/>
            <a:ext cx="9264193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Collecting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10D5E-A3FA-DBCB-DFDA-A33EDC1B95CB}"/>
              </a:ext>
            </a:extLst>
          </p:cNvPr>
          <p:cNvSpPr txBox="1"/>
          <p:nvPr/>
        </p:nvSpPr>
        <p:spPr>
          <a:xfrm>
            <a:off x="217023" y="6362819"/>
            <a:ext cx="7351776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/>
              <a:t>[Trail-1 Trail-2 Trail-3]    [</a:t>
            </a:r>
            <a:r>
              <a:rPr lang="en-US" altLang="zh-CN" sz="1050" dirty="0"/>
              <a:t>Trail-1 Trail-2 Trail-3]    [Trail-1 Trail-2 Trail-3]     [Trail-1 Trail-2 Trail-3]    [Trail-1 Trail-2 Trail-3]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25560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FAA55-0823-E92B-A6A2-741093CFB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D6F65141-1107-8D32-72C0-997791225DF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Balanced scorecard slide 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EBDFA2-9605-F0F1-7F55-3A573991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07800" y="0"/>
            <a:ext cx="584200" cy="584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ACA4A8-A53A-C9CB-45D4-C838D15CBD02}"/>
              </a:ext>
            </a:extLst>
          </p:cNvPr>
          <p:cNvSpPr txBox="1"/>
          <p:nvPr/>
        </p:nvSpPr>
        <p:spPr>
          <a:xfrm>
            <a:off x="1463904" y="261323"/>
            <a:ext cx="9264193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600" dirty="0">
                <a:latin typeface="+mj-lt"/>
              </a:rPr>
              <a:t>Cleaning </a:t>
            </a:r>
            <a:r>
              <a:rPr lang="en-US" sz="3600" dirty="0">
                <a:latin typeface="+mj-lt"/>
              </a:rPr>
              <a:t>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5F2AFE-D10A-3AAD-FFB0-62E7638280B6}"/>
              </a:ext>
            </a:extLst>
          </p:cNvPr>
          <p:cNvSpPr txBox="1"/>
          <p:nvPr/>
        </p:nvSpPr>
        <p:spPr>
          <a:xfrm>
            <a:off x="1610883" y="1342983"/>
            <a:ext cx="9482007" cy="320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EAC0B6-2506-AEA9-F414-B1A6C854D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73800"/>
            <a:ext cx="584200" cy="584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B9602-4ACA-F7DE-69BA-F02891DAE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75738-883E-4D82-874A-987559CF11A8}" type="datetime1">
              <a:rPr lang="en-US" smtClean="0"/>
              <a:t>12/3/2024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7A150-8DB4-DA6E-FCFF-4FD7A6213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955-6230-48B4-BD8B-A7C460F75945}" type="slidenum">
              <a:rPr lang="en-US" smtClean="0"/>
              <a:t>3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909FBF-0F45-9A2C-628E-1D087B76F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" y="1436522"/>
            <a:ext cx="4699000" cy="407153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EA7B8DB-52A4-C122-D9FC-CF6339056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0" y="1231470"/>
            <a:ext cx="3105454" cy="4664962"/>
          </a:xfrm>
          <a:prstGeom prst="rect">
            <a:avLst/>
          </a:prstGeom>
        </p:spPr>
      </p:pic>
      <p:graphicFrame>
        <p:nvGraphicFramePr>
          <p:cNvPr id="41" name="Diagram 40">
            <a:extLst>
              <a:ext uri="{FF2B5EF4-FFF2-40B4-BE49-F238E27FC236}">
                <a16:creationId xmlns:a16="http://schemas.microsoft.com/office/drawing/2014/main" id="{6863BC63-BD26-6FF3-32AD-B117F54DBA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0332747"/>
              </p:ext>
            </p:extLst>
          </p:nvPr>
        </p:nvGraphicFramePr>
        <p:xfrm>
          <a:off x="4111142" y="2431115"/>
          <a:ext cx="3794760" cy="17202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408647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 hidden="1">
            <a:extLst>
              <a:ext uri="{FF2B5EF4-FFF2-40B4-BE49-F238E27FC236}">
                <a16:creationId xmlns:a16="http://schemas.microsoft.com/office/drawing/2014/main" id="{515E1EA5-44B4-4F71-9348-C1ED402144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Balanced scorecard slide 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5D2A43-E613-4861-B777-A0FBFF474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07800" y="0"/>
            <a:ext cx="584200" cy="584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C92C2E-8888-42AB-A36D-D6F2B362B0CD}"/>
              </a:ext>
            </a:extLst>
          </p:cNvPr>
          <p:cNvSpPr txBox="1"/>
          <p:nvPr/>
        </p:nvSpPr>
        <p:spPr>
          <a:xfrm>
            <a:off x="1964786" y="924900"/>
            <a:ext cx="9264193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3200" dirty="0"/>
              <a:t>5 different stages in the forming process</a:t>
            </a:r>
            <a:endParaRPr lang="en-US" sz="3600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BF686F-91C6-49D1-A69F-A2D1290E7E30}"/>
              </a:ext>
            </a:extLst>
          </p:cNvPr>
          <p:cNvSpPr txBox="1"/>
          <p:nvPr/>
        </p:nvSpPr>
        <p:spPr>
          <a:xfrm>
            <a:off x="1610883" y="1342983"/>
            <a:ext cx="9482007" cy="3206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endParaRPr lang="en-US" sz="2000" dirty="0"/>
          </a:p>
        </p:txBody>
      </p:sp>
      <p:sp>
        <p:nvSpPr>
          <p:cNvPr id="47" name="Rectangle: Top Corners Rounded 46">
            <a:extLst>
              <a:ext uri="{FF2B5EF4-FFF2-40B4-BE49-F238E27FC236}">
                <a16:creationId xmlns:a16="http://schemas.microsoft.com/office/drawing/2014/main" id="{7757CDEF-630C-40F7-970E-216E60E63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1254239" y="670099"/>
            <a:ext cx="1214555" cy="361582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C01E23-90C8-4759-A5BC-F3CE0BC2D0F9}"/>
              </a:ext>
            </a:extLst>
          </p:cNvPr>
          <p:cNvSpPr txBox="1"/>
          <p:nvPr/>
        </p:nvSpPr>
        <p:spPr>
          <a:xfrm>
            <a:off x="320010" y="2200727"/>
            <a:ext cx="323322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Uniform forming1 (0): The strain is evenly distributed. </a:t>
            </a:r>
          </a:p>
          <a:p>
            <a:endParaRPr lang="en-US" sz="1600" dirty="0"/>
          </a:p>
        </p:txBody>
      </p:sp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B0A604A2-1672-42C6-B255-324211739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1277129" y="3356365"/>
            <a:ext cx="1330898" cy="388515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DC3D59-6312-4B09-A47E-217DF86E4CEC}"/>
              </a:ext>
            </a:extLst>
          </p:cNvPr>
          <p:cNvSpPr txBox="1"/>
          <p:nvPr/>
        </p:nvSpPr>
        <p:spPr>
          <a:xfrm>
            <a:off x="348172" y="4972214"/>
            <a:ext cx="323322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Local necking (3): The strain is concentrated in a small area, and local thinning occurs.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266B6E-A3E1-4E83-A284-AE89ACE4B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13188" y="1708132"/>
            <a:ext cx="4343400" cy="4362633"/>
            <a:chOff x="3913188" y="1580968"/>
            <a:chExt cx="4343400" cy="436263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430D05E-E542-4A7A-820D-1D7456314943}"/>
                </a:ext>
              </a:extLst>
            </p:cNvPr>
            <p:cNvGrpSpPr/>
            <p:nvPr/>
          </p:nvGrpSpPr>
          <p:grpSpPr>
            <a:xfrm>
              <a:off x="3913188" y="1580968"/>
              <a:ext cx="4343400" cy="4362633"/>
              <a:chOff x="3913188" y="1580968"/>
              <a:chExt cx="4343400" cy="4362633"/>
            </a:xfrm>
            <a:effectLst/>
          </p:grpSpPr>
          <p:sp>
            <p:nvSpPr>
              <p:cNvPr id="16" name="Freeform 5">
                <a:extLst>
                  <a:ext uri="{FF2B5EF4-FFF2-40B4-BE49-F238E27FC236}">
                    <a16:creationId xmlns:a16="http://schemas.microsoft.com/office/drawing/2014/main" id="{21FBD271-8B92-4637-8B26-873FB982AA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3188" y="1600200"/>
                <a:ext cx="2008188" cy="2020888"/>
              </a:xfrm>
              <a:custGeom>
                <a:avLst/>
                <a:gdLst>
                  <a:gd name="T0" fmla="*/ 55 w 172"/>
                  <a:gd name="T1" fmla="*/ 173 h 173"/>
                  <a:gd name="T2" fmla="*/ 0 w 172"/>
                  <a:gd name="T3" fmla="*/ 173 h 173"/>
                  <a:gd name="T4" fmla="*/ 172 w 172"/>
                  <a:gd name="T5" fmla="*/ 0 h 173"/>
                  <a:gd name="T6" fmla="*/ 172 w 172"/>
                  <a:gd name="T7" fmla="*/ 55 h 173"/>
                  <a:gd name="T8" fmla="*/ 55 w 172"/>
                  <a:gd name="T9" fmla="*/ 173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2" h="173">
                    <a:moveTo>
                      <a:pt x="55" y="173"/>
                    </a:moveTo>
                    <a:cubicBezTo>
                      <a:pt x="0" y="173"/>
                      <a:pt x="0" y="173"/>
                      <a:pt x="0" y="173"/>
                    </a:cubicBezTo>
                    <a:cubicBezTo>
                      <a:pt x="7" y="80"/>
                      <a:pt x="80" y="7"/>
                      <a:pt x="172" y="0"/>
                    </a:cubicBezTo>
                    <a:cubicBezTo>
                      <a:pt x="172" y="55"/>
                      <a:pt x="172" y="55"/>
                      <a:pt x="172" y="55"/>
                    </a:cubicBezTo>
                    <a:cubicBezTo>
                      <a:pt x="110" y="61"/>
                      <a:pt x="61" y="111"/>
                      <a:pt x="55" y="17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7" name="Freeform 6">
                <a:extLst>
                  <a:ext uri="{FF2B5EF4-FFF2-40B4-BE49-F238E27FC236}">
                    <a16:creationId xmlns:a16="http://schemas.microsoft.com/office/drawing/2014/main" id="{73F932C8-AF28-4A7B-BDA9-82D3B71F3E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5700" y="3935413"/>
                <a:ext cx="2020888" cy="2008188"/>
              </a:xfrm>
              <a:custGeom>
                <a:avLst/>
                <a:gdLst>
                  <a:gd name="T0" fmla="*/ 118 w 173"/>
                  <a:gd name="T1" fmla="*/ 0 h 172"/>
                  <a:gd name="T2" fmla="*/ 173 w 173"/>
                  <a:gd name="T3" fmla="*/ 0 h 172"/>
                  <a:gd name="T4" fmla="*/ 0 w 173"/>
                  <a:gd name="T5" fmla="*/ 172 h 172"/>
                  <a:gd name="T6" fmla="*/ 0 w 173"/>
                  <a:gd name="T7" fmla="*/ 117 h 172"/>
                  <a:gd name="T8" fmla="*/ 118 w 173"/>
                  <a:gd name="T9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3" h="172">
                    <a:moveTo>
                      <a:pt x="118" y="0"/>
                    </a:moveTo>
                    <a:cubicBezTo>
                      <a:pt x="173" y="0"/>
                      <a:pt x="173" y="0"/>
                      <a:pt x="173" y="0"/>
                    </a:cubicBezTo>
                    <a:cubicBezTo>
                      <a:pt x="166" y="92"/>
                      <a:pt x="93" y="166"/>
                      <a:pt x="0" y="172"/>
                    </a:cubicBezTo>
                    <a:cubicBezTo>
                      <a:pt x="0" y="117"/>
                      <a:pt x="0" y="117"/>
                      <a:pt x="0" y="117"/>
                    </a:cubicBezTo>
                    <a:cubicBezTo>
                      <a:pt x="62" y="111"/>
                      <a:pt x="112" y="62"/>
                      <a:pt x="1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" name="Freeform 7">
                <a:extLst>
                  <a:ext uri="{FF2B5EF4-FFF2-40B4-BE49-F238E27FC236}">
                    <a16:creationId xmlns:a16="http://schemas.microsoft.com/office/drawing/2014/main" id="{6D8DACB5-7050-41E1-9B1A-9174CA70A4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3188" y="3935413"/>
                <a:ext cx="2008188" cy="2008188"/>
              </a:xfrm>
              <a:custGeom>
                <a:avLst/>
                <a:gdLst>
                  <a:gd name="T0" fmla="*/ 172 w 172"/>
                  <a:gd name="T1" fmla="*/ 117 h 172"/>
                  <a:gd name="T2" fmla="*/ 172 w 172"/>
                  <a:gd name="T3" fmla="*/ 172 h 172"/>
                  <a:gd name="T4" fmla="*/ 0 w 172"/>
                  <a:gd name="T5" fmla="*/ 0 h 172"/>
                  <a:gd name="T6" fmla="*/ 55 w 172"/>
                  <a:gd name="T7" fmla="*/ 0 h 172"/>
                  <a:gd name="T8" fmla="*/ 172 w 172"/>
                  <a:gd name="T9" fmla="*/ 117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2" h="172">
                    <a:moveTo>
                      <a:pt x="172" y="117"/>
                    </a:moveTo>
                    <a:cubicBezTo>
                      <a:pt x="172" y="172"/>
                      <a:pt x="172" y="172"/>
                      <a:pt x="172" y="172"/>
                    </a:cubicBezTo>
                    <a:cubicBezTo>
                      <a:pt x="80" y="166"/>
                      <a:pt x="7" y="92"/>
                      <a:pt x="0" y="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61" y="62"/>
                      <a:pt x="110" y="111"/>
                      <a:pt x="172" y="117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" name="Freeform 8">
                <a:extLst>
                  <a:ext uri="{FF2B5EF4-FFF2-40B4-BE49-F238E27FC236}">
                    <a16:creationId xmlns:a16="http://schemas.microsoft.com/office/drawing/2014/main" id="{911C8ACA-A542-4D08-9126-B96D0F71B4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35700" y="1580968"/>
                <a:ext cx="2020888" cy="2020888"/>
              </a:xfrm>
              <a:custGeom>
                <a:avLst/>
                <a:gdLst>
                  <a:gd name="T0" fmla="*/ 0 w 173"/>
                  <a:gd name="T1" fmla="*/ 55 h 173"/>
                  <a:gd name="T2" fmla="*/ 0 w 173"/>
                  <a:gd name="T3" fmla="*/ 0 h 173"/>
                  <a:gd name="T4" fmla="*/ 173 w 173"/>
                  <a:gd name="T5" fmla="*/ 173 h 173"/>
                  <a:gd name="T6" fmla="*/ 118 w 173"/>
                  <a:gd name="T7" fmla="*/ 173 h 173"/>
                  <a:gd name="T8" fmla="*/ 0 w 173"/>
                  <a:gd name="T9" fmla="*/ 55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3" h="173">
                    <a:moveTo>
                      <a:pt x="0" y="55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93" y="7"/>
                      <a:pt x="166" y="80"/>
                      <a:pt x="173" y="173"/>
                    </a:cubicBezTo>
                    <a:cubicBezTo>
                      <a:pt x="118" y="173"/>
                      <a:pt x="118" y="173"/>
                      <a:pt x="118" y="173"/>
                    </a:cubicBezTo>
                    <a:cubicBezTo>
                      <a:pt x="112" y="111"/>
                      <a:pt x="62" y="61"/>
                      <a:pt x="0" y="5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:a16="http://schemas.microsoft.com/office/drawing/2014/main" id="{745DC8CE-88A3-43D3-9F62-45AA3B8D0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V="1">
              <a:off x="4518819" y="2194720"/>
              <a:ext cx="3154361" cy="3154361"/>
            </a:xfrm>
            <a:custGeom>
              <a:avLst/>
              <a:gdLst>
                <a:gd name="connsiteX0" fmla="*/ 1577181 w 3154361"/>
                <a:gd name="connsiteY0" fmla="*/ 3154361 h 3154361"/>
                <a:gd name="connsiteX1" fmla="*/ 1780203 w 3154361"/>
                <a:gd name="connsiteY1" fmla="*/ 2804324 h 3154361"/>
                <a:gd name="connsiteX2" fmla="*/ 1797438 w 3154361"/>
                <a:gd name="connsiteY2" fmla="*/ 2802025 h 3154361"/>
                <a:gd name="connsiteX3" fmla="*/ 2796180 w 3154361"/>
                <a:gd name="connsiteY3" fmla="*/ 1827945 h 3154361"/>
                <a:gd name="connsiteX4" fmla="*/ 2803383 w 3154361"/>
                <a:gd name="connsiteY4" fmla="*/ 1780748 h 3154361"/>
                <a:gd name="connsiteX5" fmla="*/ 3154361 w 3154361"/>
                <a:gd name="connsiteY5" fmla="*/ 1577181 h 3154361"/>
                <a:gd name="connsiteX6" fmla="*/ 2803383 w 3154361"/>
                <a:gd name="connsiteY6" fmla="*/ 1373614 h 3154361"/>
                <a:gd name="connsiteX7" fmla="*/ 2796180 w 3154361"/>
                <a:gd name="connsiteY7" fmla="*/ 1326414 h 3154361"/>
                <a:gd name="connsiteX8" fmla="*/ 1797438 w 3154361"/>
                <a:gd name="connsiteY8" fmla="*/ 352335 h 3154361"/>
                <a:gd name="connsiteX9" fmla="*/ 1780201 w 3154361"/>
                <a:gd name="connsiteY9" fmla="*/ 350035 h 3154361"/>
                <a:gd name="connsiteX10" fmla="*/ 1577181 w 3154361"/>
                <a:gd name="connsiteY10" fmla="*/ 0 h 3154361"/>
                <a:gd name="connsiteX11" fmla="*/ 1374161 w 3154361"/>
                <a:gd name="connsiteY11" fmla="*/ 350035 h 3154361"/>
                <a:gd name="connsiteX12" fmla="*/ 1356922 w 3154361"/>
                <a:gd name="connsiteY12" fmla="*/ 352335 h 3154361"/>
                <a:gd name="connsiteX13" fmla="*/ 358181 w 3154361"/>
                <a:gd name="connsiteY13" fmla="*/ 1326414 h 3154361"/>
                <a:gd name="connsiteX14" fmla="*/ 350977 w 3154361"/>
                <a:gd name="connsiteY14" fmla="*/ 1373613 h 3154361"/>
                <a:gd name="connsiteX15" fmla="*/ 0 w 3154361"/>
                <a:gd name="connsiteY15" fmla="*/ 1577180 h 3154361"/>
                <a:gd name="connsiteX16" fmla="*/ 350977 w 3154361"/>
                <a:gd name="connsiteY16" fmla="*/ 1780746 h 3154361"/>
                <a:gd name="connsiteX17" fmla="*/ 358181 w 3154361"/>
                <a:gd name="connsiteY17" fmla="*/ 1827946 h 3154361"/>
                <a:gd name="connsiteX18" fmla="*/ 1356922 w 3154361"/>
                <a:gd name="connsiteY18" fmla="*/ 2802025 h 3154361"/>
                <a:gd name="connsiteX19" fmla="*/ 1374159 w 3154361"/>
                <a:gd name="connsiteY19" fmla="*/ 2804324 h 3154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154361" h="3154361">
                  <a:moveTo>
                    <a:pt x="1577181" y="3154361"/>
                  </a:moveTo>
                  <a:lnTo>
                    <a:pt x="1780203" y="2804324"/>
                  </a:lnTo>
                  <a:lnTo>
                    <a:pt x="1797438" y="2802025"/>
                  </a:lnTo>
                  <a:cubicBezTo>
                    <a:pt x="2297871" y="2712635"/>
                    <a:pt x="2694658" y="2324067"/>
                    <a:pt x="2796180" y="1827945"/>
                  </a:cubicBezTo>
                  <a:lnTo>
                    <a:pt x="2803383" y="1780748"/>
                  </a:lnTo>
                  <a:lnTo>
                    <a:pt x="3154361" y="1577181"/>
                  </a:lnTo>
                  <a:lnTo>
                    <a:pt x="2803383" y="1373614"/>
                  </a:lnTo>
                  <a:lnTo>
                    <a:pt x="2796180" y="1326414"/>
                  </a:lnTo>
                  <a:cubicBezTo>
                    <a:pt x="2694658" y="830292"/>
                    <a:pt x="2297871" y="441725"/>
                    <a:pt x="1797438" y="352335"/>
                  </a:cubicBezTo>
                  <a:lnTo>
                    <a:pt x="1780201" y="350035"/>
                  </a:lnTo>
                  <a:lnTo>
                    <a:pt x="1577181" y="0"/>
                  </a:lnTo>
                  <a:lnTo>
                    <a:pt x="1374161" y="350035"/>
                  </a:lnTo>
                  <a:lnTo>
                    <a:pt x="1356922" y="352335"/>
                  </a:lnTo>
                  <a:cubicBezTo>
                    <a:pt x="856490" y="441724"/>
                    <a:pt x="459702" y="830291"/>
                    <a:pt x="358181" y="1326414"/>
                  </a:cubicBezTo>
                  <a:lnTo>
                    <a:pt x="350977" y="1373613"/>
                  </a:lnTo>
                  <a:lnTo>
                    <a:pt x="0" y="1577180"/>
                  </a:lnTo>
                  <a:lnTo>
                    <a:pt x="350977" y="1780746"/>
                  </a:lnTo>
                  <a:lnTo>
                    <a:pt x="358181" y="1827946"/>
                  </a:lnTo>
                  <a:cubicBezTo>
                    <a:pt x="459702" y="2324067"/>
                    <a:pt x="856490" y="2712635"/>
                    <a:pt x="1356922" y="2802025"/>
                  </a:cubicBezTo>
                  <a:lnTo>
                    <a:pt x="1374159" y="2804324"/>
                  </a:lnTo>
                  <a:close/>
                </a:path>
              </a:pathLst>
            </a:custGeom>
            <a:noFill/>
            <a:ln w="19050">
              <a:solidFill>
                <a:srgbClr val="7F7F7F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5B14B81-EA0D-481E-B812-0C4780A90B6F}"/>
                </a:ext>
              </a:extLst>
            </p:cNvPr>
            <p:cNvGrpSpPr/>
            <p:nvPr/>
          </p:nvGrpSpPr>
          <p:grpSpPr>
            <a:xfrm>
              <a:off x="4616061" y="2308738"/>
              <a:ext cx="319647" cy="319648"/>
              <a:chOff x="4548188" y="2235200"/>
              <a:chExt cx="425450" cy="425451"/>
            </a:xfrm>
            <a:solidFill>
              <a:schemeClr val="bg1"/>
            </a:solidFill>
            <a:effectLst/>
          </p:grpSpPr>
          <p:sp>
            <p:nvSpPr>
              <p:cNvPr id="22" name="Freeform 5">
                <a:extLst>
                  <a:ext uri="{FF2B5EF4-FFF2-40B4-BE49-F238E27FC236}">
                    <a16:creationId xmlns:a16="http://schemas.microsoft.com/office/drawing/2014/main" id="{7C855667-1645-4A2E-8BE9-A7E14DCF3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8188" y="2235200"/>
                <a:ext cx="425450" cy="269875"/>
              </a:xfrm>
              <a:custGeom>
                <a:avLst/>
                <a:gdLst>
                  <a:gd name="T0" fmla="*/ 0 w 240"/>
                  <a:gd name="T1" fmla="*/ 0 h 152"/>
                  <a:gd name="T2" fmla="*/ 0 w 240"/>
                  <a:gd name="T3" fmla="*/ 124 h 152"/>
                  <a:gd name="T4" fmla="*/ 8 w 240"/>
                  <a:gd name="T5" fmla="*/ 111 h 152"/>
                  <a:gd name="T6" fmla="*/ 8 w 240"/>
                  <a:gd name="T7" fmla="*/ 8 h 152"/>
                  <a:gd name="T8" fmla="*/ 232 w 240"/>
                  <a:gd name="T9" fmla="*/ 8 h 152"/>
                  <a:gd name="T10" fmla="*/ 232 w 240"/>
                  <a:gd name="T11" fmla="*/ 144 h 152"/>
                  <a:gd name="T12" fmla="*/ 128 w 240"/>
                  <a:gd name="T13" fmla="*/ 144 h 152"/>
                  <a:gd name="T14" fmla="*/ 128 w 240"/>
                  <a:gd name="T15" fmla="*/ 152 h 152"/>
                  <a:gd name="T16" fmla="*/ 240 w 240"/>
                  <a:gd name="T17" fmla="*/ 152 h 152"/>
                  <a:gd name="T18" fmla="*/ 240 w 240"/>
                  <a:gd name="T19" fmla="*/ 0 h 152"/>
                  <a:gd name="T20" fmla="*/ 0 w 240"/>
                  <a:gd name="T21" fmla="*/ 0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40" h="152">
                    <a:moveTo>
                      <a:pt x="0" y="0"/>
                    </a:moveTo>
                    <a:cubicBezTo>
                      <a:pt x="0" y="124"/>
                      <a:pt x="0" y="124"/>
                      <a:pt x="0" y="124"/>
                    </a:cubicBezTo>
                    <a:cubicBezTo>
                      <a:pt x="0" y="118"/>
                      <a:pt x="3" y="114"/>
                      <a:pt x="8" y="111"/>
                    </a:cubicBezTo>
                    <a:cubicBezTo>
                      <a:pt x="8" y="8"/>
                      <a:pt x="8" y="8"/>
                      <a:pt x="8" y="8"/>
                    </a:cubicBezTo>
                    <a:cubicBezTo>
                      <a:pt x="232" y="8"/>
                      <a:pt x="232" y="8"/>
                      <a:pt x="232" y="8"/>
                    </a:cubicBezTo>
                    <a:cubicBezTo>
                      <a:pt x="232" y="144"/>
                      <a:pt x="232" y="144"/>
                      <a:pt x="232" y="144"/>
                    </a:cubicBezTo>
                    <a:cubicBezTo>
                      <a:pt x="128" y="144"/>
                      <a:pt x="128" y="144"/>
                      <a:pt x="128" y="144"/>
                    </a:cubicBezTo>
                    <a:cubicBezTo>
                      <a:pt x="128" y="152"/>
                      <a:pt x="128" y="152"/>
                      <a:pt x="128" y="152"/>
                    </a:cubicBezTo>
                    <a:cubicBezTo>
                      <a:pt x="240" y="152"/>
                      <a:pt x="240" y="152"/>
                      <a:pt x="240" y="152"/>
                    </a:cubicBezTo>
                    <a:cubicBezTo>
                      <a:pt x="240" y="0"/>
                      <a:pt x="240" y="0"/>
                      <a:pt x="24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" name="Freeform 6" descr="This image is an icon of money. ">
                <a:extLst>
                  <a:ext uri="{FF2B5EF4-FFF2-40B4-BE49-F238E27FC236}">
                    <a16:creationId xmlns:a16="http://schemas.microsoft.com/office/drawing/2014/main" id="{8E3AF429-6788-4B7E-898B-359A1CC8FC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91051" y="2278063"/>
                <a:ext cx="339725" cy="184150"/>
              </a:xfrm>
              <a:custGeom>
                <a:avLst/>
                <a:gdLst>
                  <a:gd name="T0" fmla="*/ 104 w 192"/>
                  <a:gd name="T1" fmla="*/ 104 h 104"/>
                  <a:gd name="T2" fmla="*/ 176 w 192"/>
                  <a:gd name="T3" fmla="*/ 104 h 104"/>
                  <a:gd name="T4" fmla="*/ 192 w 192"/>
                  <a:gd name="T5" fmla="*/ 88 h 104"/>
                  <a:gd name="T6" fmla="*/ 192 w 192"/>
                  <a:gd name="T7" fmla="*/ 16 h 104"/>
                  <a:gd name="T8" fmla="*/ 176 w 192"/>
                  <a:gd name="T9" fmla="*/ 0 h 104"/>
                  <a:gd name="T10" fmla="*/ 16 w 192"/>
                  <a:gd name="T11" fmla="*/ 0 h 104"/>
                  <a:gd name="T12" fmla="*/ 0 w 192"/>
                  <a:gd name="T13" fmla="*/ 16 h 104"/>
                  <a:gd name="T14" fmla="*/ 0 w 192"/>
                  <a:gd name="T15" fmla="*/ 80 h 104"/>
                  <a:gd name="T16" fmla="*/ 40 w 192"/>
                  <a:gd name="T17" fmla="*/ 76 h 104"/>
                  <a:gd name="T18" fmla="*/ 104 w 192"/>
                  <a:gd name="T19" fmla="*/ 100 h 104"/>
                  <a:gd name="T20" fmla="*/ 104 w 192"/>
                  <a:gd name="T21" fmla="*/ 104 h 104"/>
                  <a:gd name="T22" fmla="*/ 164 w 192"/>
                  <a:gd name="T23" fmla="*/ 64 h 104"/>
                  <a:gd name="T24" fmla="*/ 176 w 192"/>
                  <a:gd name="T25" fmla="*/ 76 h 104"/>
                  <a:gd name="T26" fmla="*/ 164 w 192"/>
                  <a:gd name="T27" fmla="*/ 88 h 104"/>
                  <a:gd name="T28" fmla="*/ 152 w 192"/>
                  <a:gd name="T29" fmla="*/ 76 h 104"/>
                  <a:gd name="T30" fmla="*/ 164 w 192"/>
                  <a:gd name="T31" fmla="*/ 64 h 104"/>
                  <a:gd name="T32" fmla="*/ 28 w 192"/>
                  <a:gd name="T33" fmla="*/ 40 h 104"/>
                  <a:gd name="T34" fmla="*/ 16 w 192"/>
                  <a:gd name="T35" fmla="*/ 28 h 104"/>
                  <a:gd name="T36" fmla="*/ 28 w 192"/>
                  <a:gd name="T37" fmla="*/ 16 h 104"/>
                  <a:gd name="T38" fmla="*/ 40 w 192"/>
                  <a:gd name="T39" fmla="*/ 28 h 104"/>
                  <a:gd name="T40" fmla="*/ 28 w 192"/>
                  <a:gd name="T41" fmla="*/ 40 h 104"/>
                  <a:gd name="T42" fmla="*/ 96 w 192"/>
                  <a:gd name="T43" fmla="*/ 76 h 104"/>
                  <a:gd name="T44" fmla="*/ 68 w 192"/>
                  <a:gd name="T45" fmla="*/ 48 h 104"/>
                  <a:gd name="T46" fmla="*/ 96 w 192"/>
                  <a:gd name="T47" fmla="*/ 20 h 104"/>
                  <a:gd name="T48" fmla="*/ 124 w 192"/>
                  <a:gd name="T49" fmla="*/ 48 h 104"/>
                  <a:gd name="T50" fmla="*/ 96 w 192"/>
                  <a:gd name="T51" fmla="*/ 76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92" h="104">
                    <a:moveTo>
                      <a:pt x="104" y="104"/>
                    </a:moveTo>
                    <a:cubicBezTo>
                      <a:pt x="176" y="104"/>
                      <a:pt x="176" y="104"/>
                      <a:pt x="176" y="104"/>
                    </a:cubicBezTo>
                    <a:cubicBezTo>
                      <a:pt x="185" y="104"/>
                      <a:pt x="192" y="97"/>
                      <a:pt x="192" y="88"/>
                    </a:cubicBezTo>
                    <a:cubicBezTo>
                      <a:pt x="192" y="16"/>
                      <a:pt x="192" y="16"/>
                      <a:pt x="192" y="16"/>
                    </a:cubicBezTo>
                    <a:cubicBezTo>
                      <a:pt x="192" y="7"/>
                      <a:pt x="185" y="0"/>
                      <a:pt x="17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16" y="76"/>
                      <a:pt x="34" y="76"/>
                      <a:pt x="40" y="76"/>
                    </a:cubicBezTo>
                    <a:cubicBezTo>
                      <a:pt x="51" y="76"/>
                      <a:pt x="104" y="77"/>
                      <a:pt x="104" y="100"/>
                    </a:cubicBezTo>
                    <a:lnTo>
                      <a:pt x="104" y="104"/>
                    </a:lnTo>
                    <a:close/>
                    <a:moveTo>
                      <a:pt x="164" y="64"/>
                    </a:moveTo>
                    <a:cubicBezTo>
                      <a:pt x="171" y="64"/>
                      <a:pt x="176" y="69"/>
                      <a:pt x="176" y="76"/>
                    </a:cubicBezTo>
                    <a:cubicBezTo>
                      <a:pt x="176" y="83"/>
                      <a:pt x="171" y="88"/>
                      <a:pt x="164" y="88"/>
                    </a:cubicBezTo>
                    <a:cubicBezTo>
                      <a:pt x="157" y="88"/>
                      <a:pt x="152" y="83"/>
                      <a:pt x="152" y="76"/>
                    </a:cubicBezTo>
                    <a:cubicBezTo>
                      <a:pt x="152" y="69"/>
                      <a:pt x="157" y="64"/>
                      <a:pt x="164" y="64"/>
                    </a:cubicBezTo>
                    <a:close/>
                    <a:moveTo>
                      <a:pt x="28" y="40"/>
                    </a:moveTo>
                    <a:cubicBezTo>
                      <a:pt x="21" y="40"/>
                      <a:pt x="16" y="35"/>
                      <a:pt x="16" y="28"/>
                    </a:cubicBezTo>
                    <a:cubicBezTo>
                      <a:pt x="16" y="21"/>
                      <a:pt x="21" y="16"/>
                      <a:pt x="28" y="16"/>
                    </a:cubicBezTo>
                    <a:cubicBezTo>
                      <a:pt x="35" y="16"/>
                      <a:pt x="40" y="21"/>
                      <a:pt x="40" y="28"/>
                    </a:cubicBezTo>
                    <a:cubicBezTo>
                      <a:pt x="40" y="35"/>
                      <a:pt x="35" y="40"/>
                      <a:pt x="28" y="40"/>
                    </a:cubicBezTo>
                    <a:close/>
                    <a:moveTo>
                      <a:pt x="96" y="76"/>
                    </a:moveTo>
                    <a:cubicBezTo>
                      <a:pt x="81" y="76"/>
                      <a:pt x="68" y="63"/>
                      <a:pt x="68" y="48"/>
                    </a:cubicBezTo>
                    <a:cubicBezTo>
                      <a:pt x="68" y="33"/>
                      <a:pt x="81" y="20"/>
                      <a:pt x="96" y="20"/>
                    </a:cubicBezTo>
                    <a:cubicBezTo>
                      <a:pt x="111" y="20"/>
                      <a:pt x="124" y="33"/>
                      <a:pt x="124" y="48"/>
                    </a:cubicBezTo>
                    <a:cubicBezTo>
                      <a:pt x="124" y="63"/>
                      <a:pt x="111" y="76"/>
                      <a:pt x="9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" name="Freeform 7">
                <a:extLst>
                  <a:ext uri="{FF2B5EF4-FFF2-40B4-BE49-F238E27FC236}">
                    <a16:creationId xmlns:a16="http://schemas.microsoft.com/office/drawing/2014/main" id="{4E842CE1-B295-4208-B83F-737A01B2B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2476" y="2611438"/>
                <a:ext cx="198438" cy="49213"/>
              </a:xfrm>
              <a:custGeom>
                <a:avLst/>
                <a:gdLst>
                  <a:gd name="T0" fmla="*/ 0 w 112"/>
                  <a:gd name="T1" fmla="*/ 0 h 28"/>
                  <a:gd name="T2" fmla="*/ 0 w 112"/>
                  <a:gd name="T3" fmla="*/ 12 h 28"/>
                  <a:gd name="T4" fmla="*/ 0 w 112"/>
                  <a:gd name="T5" fmla="*/ 14 h 28"/>
                  <a:gd name="T6" fmla="*/ 1 w 112"/>
                  <a:gd name="T7" fmla="*/ 15 h 28"/>
                  <a:gd name="T8" fmla="*/ 1 w 112"/>
                  <a:gd name="T9" fmla="*/ 16 h 28"/>
                  <a:gd name="T10" fmla="*/ 3 w 112"/>
                  <a:gd name="T11" fmla="*/ 17 h 28"/>
                  <a:gd name="T12" fmla="*/ 3 w 112"/>
                  <a:gd name="T13" fmla="*/ 18 h 28"/>
                  <a:gd name="T14" fmla="*/ 8 w 112"/>
                  <a:gd name="T15" fmla="*/ 21 h 28"/>
                  <a:gd name="T16" fmla="*/ 8 w 112"/>
                  <a:gd name="T17" fmla="*/ 21 h 28"/>
                  <a:gd name="T18" fmla="*/ 11 w 112"/>
                  <a:gd name="T19" fmla="*/ 22 h 28"/>
                  <a:gd name="T20" fmla="*/ 12 w 112"/>
                  <a:gd name="T21" fmla="*/ 22 h 28"/>
                  <a:gd name="T22" fmla="*/ 14 w 112"/>
                  <a:gd name="T23" fmla="*/ 23 h 28"/>
                  <a:gd name="T24" fmla="*/ 16 w 112"/>
                  <a:gd name="T25" fmla="*/ 23 h 28"/>
                  <a:gd name="T26" fmla="*/ 18 w 112"/>
                  <a:gd name="T27" fmla="*/ 24 h 28"/>
                  <a:gd name="T28" fmla="*/ 52 w 112"/>
                  <a:gd name="T29" fmla="*/ 28 h 28"/>
                  <a:gd name="T30" fmla="*/ 56 w 112"/>
                  <a:gd name="T31" fmla="*/ 28 h 28"/>
                  <a:gd name="T32" fmla="*/ 60 w 112"/>
                  <a:gd name="T33" fmla="*/ 28 h 28"/>
                  <a:gd name="T34" fmla="*/ 94 w 112"/>
                  <a:gd name="T35" fmla="*/ 24 h 28"/>
                  <a:gd name="T36" fmla="*/ 96 w 112"/>
                  <a:gd name="T37" fmla="*/ 23 h 28"/>
                  <a:gd name="T38" fmla="*/ 98 w 112"/>
                  <a:gd name="T39" fmla="*/ 23 h 28"/>
                  <a:gd name="T40" fmla="*/ 100 w 112"/>
                  <a:gd name="T41" fmla="*/ 22 h 28"/>
                  <a:gd name="T42" fmla="*/ 101 w 112"/>
                  <a:gd name="T43" fmla="*/ 22 h 28"/>
                  <a:gd name="T44" fmla="*/ 104 w 112"/>
                  <a:gd name="T45" fmla="*/ 21 h 28"/>
                  <a:gd name="T46" fmla="*/ 104 w 112"/>
                  <a:gd name="T47" fmla="*/ 21 h 28"/>
                  <a:gd name="T48" fmla="*/ 109 w 112"/>
                  <a:gd name="T49" fmla="*/ 18 h 28"/>
                  <a:gd name="T50" fmla="*/ 109 w 112"/>
                  <a:gd name="T51" fmla="*/ 17 h 28"/>
                  <a:gd name="T52" fmla="*/ 111 w 112"/>
                  <a:gd name="T53" fmla="*/ 16 h 28"/>
                  <a:gd name="T54" fmla="*/ 111 w 112"/>
                  <a:gd name="T55" fmla="*/ 15 h 28"/>
                  <a:gd name="T56" fmla="*/ 112 w 112"/>
                  <a:gd name="T57" fmla="*/ 14 h 28"/>
                  <a:gd name="T58" fmla="*/ 112 w 112"/>
                  <a:gd name="T59" fmla="*/ 12 h 28"/>
                  <a:gd name="T60" fmla="*/ 112 w 112"/>
                  <a:gd name="T61" fmla="*/ 0 h 28"/>
                  <a:gd name="T62" fmla="*/ 56 w 112"/>
                  <a:gd name="T63" fmla="*/ 8 h 28"/>
                  <a:gd name="T64" fmla="*/ 0 w 112"/>
                  <a:gd name="T65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2" h="28">
                    <a:moveTo>
                      <a:pt x="0" y="0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0" y="13"/>
                      <a:pt x="0" y="13"/>
                      <a:pt x="0" y="14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2" y="16"/>
                      <a:pt x="2" y="17"/>
                      <a:pt x="3" y="17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5" y="19"/>
                      <a:pt x="6" y="20"/>
                      <a:pt x="8" y="21"/>
                    </a:cubicBezTo>
                    <a:cubicBezTo>
                      <a:pt x="8" y="21"/>
                      <a:pt x="8" y="21"/>
                      <a:pt x="8" y="21"/>
                    </a:cubicBezTo>
                    <a:cubicBezTo>
                      <a:pt x="9" y="21"/>
                      <a:pt x="10" y="21"/>
                      <a:pt x="11" y="22"/>
                    </a:cubicBezTo>
                    <a:cubicBezTo>
                      <a:pt x="11" y="22"/>
                      <a:pt x="12" y="22"/>
                      <a:pt x="12" y="22"/>
                    </a:cubicBezTo>
                    <a:cubicBezTo>
                      <a:pt x="13" y="22"/>
                      <a:pt x="13" y="23"/>
                      <a:pt x="14" y="23"/>
                    </a:cubicBezTo>
                    <a:cubicBezTo>
                      <a:pt x="15" y="23"/>
                      <a:pt x="16" y="23"/>
                      <a:pt x="16" y="23"/>
                    </a:cubicBezTo>
                    <a:cubicBezTo>
                      <a:pt x="17" y="23"/>
                      <a:pt x="17" y="24"/>
                      <a:pt x="18" y="24"/>
                    </a:cubicBezTo>
                    <a:cubicBezTo>
                      <a:pt x="28" y="26"/>
                      <a:pt x="42" y="28"/>
                      <a:pt x="52" y="28"/>
                    </a:cubicBezTo>
                    <a:cubicBezTo>
                      <a:pt x="54" y="28"/>
                      <a:pt x="55" y="28"/>
                      <a:pt x="56" y="28"/>
                    </a:cubicBezTo>
                    <a:cubicBezTo>
                      <a:pt x="57" y="28"/>
                      <a:pt x="58" y="28"/>
                      <a:pt x="60" y="28"/>
                    </a:cubicBezTo>
                    <a:cubicBezTo>
                      <a:pt x="70" y="28"/>
                      <a:pt x="84" y="26"/>
                      <a:pt x="94" y="24"/>
                    </a:cubicBezTo>
                    <a:cubicBezTo>
                      <a:pt x="95" y="24"/>
                      <a:pt x="95" y="23"/>
                      <a:pt x="96" y="23"/>
                    </a:cubicBezTo>
                    <a:cubicBezTo>
                      <a:pt x="96" y="23"/>
                      <a:pt x="97" y="23"/>
                      <a:pt x="98" y="23"/>
                    </a:cubicBezTo>
                    <a:cubicBezTo>
                      <a:pt x="99" y="23"/>
                      <a:pt x="99" y="22"/>
                      <a:pt x="100" y="22"/>
                    </a:cubicBezTo>
                    <a:cubicBezTo>
                      <a:pt x="100" y="22"/>
                      <a:pt x="101" y="22"/>
                      <a:pt x="101" y="22"/>
                    </a:cubicBezTo>
                    <a:cubicBezTo>
                      <a:pt x="102" y="21"/>
                      <a:pt x="103" y="21"/>
                      <a:pt x="104" y="21"/>
                    </a:cubicBezTo>
                    <a:cubicBezTo>
                      <a:pt x="104" y="21"/>
                      <a:pt x="104" y="21"/>
                      <a:pt x="104" y="21"/>
                    </a:cubicBezTo>
                    <a:cubicBezTo>
                      <a:pt x="106" y="20"/>
                      <a:pt x="107" y="19"/>
                      <a:pt x="109" y="18"/>
                    </a:cubicBezTo>
                    <a:cubicBezTo>
                      <a:pt x="109" y="18"/>
                      <a:pt x="109" y="18"/>
                      <a:pt x="109" y="17"/>
                    </a:cubicBezTo>
                    <a:cubicBezTo>
                      <a:pt x="110" y="17"/>
                      <a:pt x="110" y="16"/>
                      <a:pt x="111" y="16"/>
                    </a:cubicBezTo>
                    <a:cubicBezTo>
                      <a:pt x="111" y="16"/>
                      <a:pt x="111" y="16"/>
                      <a:pt x="111" y="15"/>
                    </a:cubicBezTo>
                    <a:cubicBezTo>
                      <a:pt x="111" y="15"/>
                      <a:pt x="111" y="15"/>
                      <a:pt x="112" y="14"/>
                    </a:cubicBezTo>
                    <a:cubicBezTo>
                      <a:pt x="112" y="13"/>
                      <a:pt x="112" y="13"/>
                      <a:pt x="112" y="12"/>
                    </a:cubicBezTo>
                    <a:cubicBezTo>
                      <a:pt x="112" y="0"/>
                      <a:pt x="112" y="0"/>
                      <a:pt x="112" y="0"/>
                    </a:cubicBezTo>
                    <a:cubicBezTo>
                      <a:pt x="98" y="6"/>
                      <a:pt x="68" y="8"/>
                      <a:pt x="56" y="8"/>
                    </a:cubicBezTo>
                    <a:cubicBezTo>
                      <a:pt x="44" y="8"/>
                      <a:pt x="14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" name="Freeform 8">
                <a:extLst>
                  <a:ext uri="{FF2B5EF4-FFF2-40B4-BE49-F238E27FC236}">
                    <a16:creationId xmlns:a16="http://schemas.microsoft.com/office/drawing/2014/main" id="{CAA0E311-D747-4C40-9238-B163BFDDED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2476" y="2427288"/>
                <a:ext cx="198438" cy="41275"/>
              </a:xfrm>
              <a:custGeom>
                <a:avLst/>
                <a:gdLst>
                  <a:gd name="T0" fmla="*/ 112 w 112"/>
                  <a:gd name="T1" fmla="*/ 15 h 24"/>
                  <a:gd name="T2" fmla="*/ 56 w 112"/>
                  <a:gd name="T3" fmla="*/ 0 h 24"/>
                  <a:gd name="T4" fmla="*/ 16 w 112"/>
                  <a:gd name="T5" fmla="*/ 5 h 24"/>
                  <a:gd name="T6" fmla="*/ 16 w 112"/>
                  <a:gd name="T7" fmla="*/ 5 h 24"/>
                  <a:gd name="T8" fmla="*/ 14 w 112"/>
                  <a:gd name="T9" fmla="*/ 5 h 24"/>
                  <a:gd name="T10" fmla="*/ 12 w 112"/>
                  <a:gd name="T11" fmla="*/ 6 h 24"/>
                  <a:gd name="T12" fmla="*/ 11 w 112"/>
                  <a:gd name="T13" fmla="*/ 6 h 24"/>
                  <a:gd name="T14" fmla="*/ 8 w 112"/>
                  <a:gd name="T15" fmla="*/ 7 h 24"/>
                  <a:gd name="T16" fmla="*/ 8 w 112"/>
                  <a:gd name="T17" fmla="*/ 7 h 24"/>
                  <a:gd name="T18" fmla="*/ 3 w 112"/>
                  <a:gd name="T19" fmla="*/ 10 h 24"/>
                  <a:gd name="T20" fmla="*/ 3 w 112"/>
                  <a:gd name="T21" fmla="*/ 11 h 24"/>
                  <a:gd name="T22" fmla="*/ 1 w 112"/>
                  <a:gd name="T23" fmla="*/ 12 h 24"/>
                  <a:gd name="T24" fmla="*/ 1 w 112"/>
                  <a:gd name="T25" fmla="*/ 13 h 24"/>
                  <a:gd name="T26" fmla="*/ 0 w 112"/>
                  <a:gd name="T27" fmla="*/ 14 h 24"/>
                  <a:gd name="T28" fmla="*/ 0 w 112"/>
                  <a:gd name="T29" fmla="*/ 15 h 24"/>
                  <a:gd name="T30" fmla="*/ 56 w 112"/>
                  <a:gd name="T31" fmla="*/ 24 h 24"/>
                  <a:gd name="T32" fmla="*/ 112 w 112"/>
                  <a:gd name="T33" fmla="*/ 15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12" h="24">
                    <a:moveTo>
                      <a:pt x="112" y="15"/>
                    </a:moveTo>
                    <a:cubicBezTo>
                      <a:pt x="111" y="5"/>
                      <a:pt x="79" y="0"/>
                      <a:pt x="56" y="0"/>
                    </a:cubicBezTo>
                    <a:cubicBezTo>
                      <a:pt x="43" y="0"/>
                      <a:pt x="28" y="2"/>
                      <a:pt x="16" y="5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5" y="5"/>
                      <a:pt x="15" y="5"/>
                      <a:pt x="14" y="5"/>
                    </a:cubicBezTo>
                    <a:cubicBezTo>
                      <a:pt x="13" y="5"/>
                      <a:pt x="13" y="6"/>
                      <a:pt x="12" y="6"/>
                    </a:cubicBezTo>
                    <a:cubicBezTo>
                      <a:pt x="12" y="6"/>
                      <a:pt x="11" y="6"/>
                      <a:pt x="11" y="6"/>
                    </a:cubicBezTo>
                    <a:cubicBezTo>
                      <a:pt x="10" y="7"/>
                      <a:pt x="9" y="7"/>
                      <a:pt x="8" y="7"/>
                    </a:cubicBezTo>
                    <a:cubicBezTo>
                      <a:pt x="8" y="7"/>
                      <a:pt x="8" y="7"/>
                      <a:pt x="8" y="7"/>
                    </a:cubicBezTo>
                    <a:cubicBezTo>
                      <a:pt x="6" y="8"/>
                      <a:pt x="5" y="9"/>
                      <a:pt x="3" y="10"/>
                    </a:cubicBezTo>
                    <a:cubicBezTo>
                      <a:pt x="3" y="10"/>
                      <a:pt x="3" y="10"/>
                      <a:pt x="3" y="11"/>
                    </a:cubicBezTo>
                    <a:cubicBezTo>
                      <a:pt x="2" y="11"/>
                      <a:pt x="2" y="12"/>
                      <a:pt x="1" y="12"/>
                    </a:cubicBezTo>
                    <a:cubicBezTo>
                      <a:pt x="1" y="12"/>
                      <a:pt x="1" y="12"/>
                      <a:pt x="1" y="13"/>
                    </a:cubicBezTo>
                    <a:cubicBezTo>
                      <a:pt x="1" y="13"/>
                      <a:pt x="1" y="13"/>
                      <a:pt x="0" y="14"/>
                    </a:cubicBezTo>
                    <a:cubicBezTo>
                      <a:pt x="0" y="14"/>
                      <a:pt x="0" y="15"/>
                      <a:pt x="0" y="15"/>
                    </a:cubicBezTo>
                    <a:cubicBezTo>
                      <a:pt x="4" y="18"/>
                      <a:pt x="26" y="24"/>
                      <a:pt x="56" y="24"/>
                    </a:cubicBezTo>
                    <a:cubicBezTo>
                      <a:pt x="86" y="24"/>
                      <a:pt x="108" y="18"/>
                      <a:pt x="112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6" name="Freeform 9">
                <a:extLst>
                  <a:ext uri="{FF2B5EF4-FFF2-40B4-BE49-F238E27FC236}">
                    <a16:creationId xmlns:a16="http://schemas.microsoft.com/office/drawing/2014/main" id="{0B38ADD3-E432-4561-A6D0-155446647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2476" y="2468563"/>
                <a:ext cx="198438" cy="36513"/>
              </a:xfrm>
              <a:custGeom>
                <a:avLst/>
                <a:gdLst>
                  <a:gd name="T0" fmla="*/ 0 w 112"/>
                  <a:gd name="T1" fmla="*/ 0 h 20"/>
                  <a:gd name="T2" fmla="*/ 0 w 112"/>
                  <a:gd name="T3" fmla="*/ 11 h 20"/>
                  <a:gd name="T4" fmla="*/ 56 w 112"/>
                  <a:gd name="T5" fmla="*/ 20 h 20"/>
                  <a:gd name="T6" fmla="*/ 112 w 112"/>
                  <a:gd name="T7" fmla="*/ 11 h 20"/>
                  <a:gd name="T8" fmla="*/ 112 w 112"/>
                  <a:gd name="T9" fmla="*/ 0 h 20"/>
                  <a:gd name="T10" fmla="*/ 56 w 112"/>
                  <a:gd name="T11" fmla="*/ 8 h 20"/>
                  <a:gd name="T12" fmla="*/ 0 w 112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2" h="20">
                    <a:moveTo>
                      <a:pt x="0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4" y="14"/>
                      <a:pt x="25" y="20"/>
                      <a:pt x="56" y="20"/>
                    </a:cubicBezTo>
                    <a:cubicBezTo>
                      <a:pt x="87" y="20"/>
                      <a:pt x="108" y="14"/>
                      <a:pt x="112" y="11"/>
                    </a:cubicBezTo>
                    <a:cubicBezTo>
                      <a:pt x="112" y="0"/>
                      <a:pt x="112" y="0"/>
                      <a:pt x="112" y="0"/>
                    </a:cubicBezTo>
                    <a:cubicBezTo>
                      <a:pt x="98" y="6"/>
                      <a:pt x="68" y="8"/>
                      <a:pt x="56" y="8"/>
                    </a:cubicBezTo>
                    <a:cubicBezTo>
                      <a:pt x="44" y="8"/>
                      <a:pt x="14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Freeform 10">
                <a:extLst>
                  <a:ext uri="{FF2B5EF4-FFF2-40B4-BE49-F238E27FC236}">
                    <a16:creationId xmlns:a16="http://schemas.microsoft.com/office/drawing/2014/main" id="{B63814C6-5F18-46EC-A9D8-7811113435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2476" y="2574925"/>
                <a:ext cx="198438" cy="36513"/>
              </a:xfrm>
              <a:custGeom>
                <a:avLst/>
                <a:gdLst>
                  <a:gd name="T0" fmla="*/ 0 w 112"/>
                  <a:gd name="T1" fmla="*/ 0 h 20"/>
                  <a:gd name="T2" fmla="*/ 0 w 112"/>
                  <a:gd name="T3" fmla="*/ 11 h 20"/>
                  <a:gd name="T4" fmla="*/ 56 w 112"/>
                  <a:gd name="T5" fmla="*/ 20 h 20"/>
                  <a:gd name="T6" fmla="*/ 112 w 112"/>
                  <a:gd name="T7" fmla="*/ 11 h 20"/>
                  <a:gd name="T8" fmla="*/ 112 w 112"/>
                  <a:gd name="T9" fmla="*/ 0 h 20"/>
                  <a:gd name="T10" fmla="*/ 56 w 112"/>
                  <a:gd name="T11" fmla="*/ 8 h 20"/>
                  <a:gd name="T12" fmla="*/ 0 w 112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2" h="20">
                    <a:moveTo>
                      <a:pt x="0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4" y="14"/>
                      <a:pt x="25" y="20"/>
                      <a:pt x="56" y="20"/>
                    </a:cubicBezTo>
                    <a:cubicBezTo>
                      <a:pt x="87" y="20"/>
                      <a:pt x="108" y="14"/>
                      <a:pt x="112" y="11"/>
                    </a:cubicBezTo>
                    <a:cubicBezTo>
                      <a:pt x="112" y="0"/>
                      <a:pt x="112" y="0"/>
                      <a:pt x="112" y="0"/>
                    </a:cubicBezTo>
                    <a:cubicBezTo>
                      <a:pt x="98" y="6"/>
                      <a:pt x="68" y="8"/>
                      <a:pt x="56" y="8"/>
                    </a:cubicBezTo>
                    <a:cubicBezTo>
                      <a:pt x="44" y="8"/>
                      <a:pt x="14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" name="Freeform 11" descr="This image is an icon of money. ">
                <a:extLst>
                  <a:ext uri="{FF2B5EF4-FFF2-40B4-BE49-F238E27FC236}">
                    <a16:creationId xmlns:a16="http://schemas.microsoft.com/office/drawing/2014/main" id="{7C0363F1-84EE-453F-9BAC-D14149D0C5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2476" y="2540000"/>
                <a:ext cx="198438" cy="34925"/>
              </a:xfrm>
              <a:custGeom>
                <a:avLst/>
                <a:gdLst>
                  <a:gd name="T0" fmla="*/ 0 w 112"/>
                  <a:gd name="T1" fmla="*/ 0 h 20"/>
                  <a:gd name="T2" fmla="*/ 0 w 112"/>
                  <a:gd name="T3" fmla="*/ 11 h 20"/>
                  <a:gd name="T4" fmla="*/ 56 w 112"/>
                  <a:gd name="T5" fmla="*/ 20 h 20"/>
                  <a:gd name="T6" fmla="*/ 112 w 112"/>
                  <a:gd name="T7" fmla="*/ 11 h 20"/>
                  <a:gd name="T8" fmla="*/ 112 w 112"/>
                  <a:gd name="T9" fmla="*/ 0 h 20"/>
                  <a:gd name="T10" fmla="*/ 56 w 112"/>
                  <a:gd name="T11" fmla="*/ 8 h 20"/>
                  <a:gd name="T12" fmla="*/ 0 w 112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2" h="20">
                    <a:moveTo>
                      <a:pt x="0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4" y="14"/>
                      <a:pt x="25" y="20"/>
                      <a:pt x="56" y="20"/>
                    </a:cubicBezTo>
                    <a:cubicBezTo>
                      <a:pt x="87" y="20"/>
                      <a:pt x="108" y="14"/>
                      <a:pt x="112" y="11"/>
                    </a:cubicBezTo>
                    <a:cubicBezTo>
                      <a:pt x="112" y="0"/>
                      <a:pt x="112" y="0"/>
                      <a:pt x="112" y="0"/>
                    </a:cubicBezTo>
                    <a:cubicBezTo>
                      <a:pt x="98" y="6"/>
                      <a:pt x="68" y="8"/>
                      <a:pt x="56" y="8"/>
                    </a:cubicBezTo>
                    <a:cubicBezTo>
                      <a:pt x="44" y="8"/>
                      <a:pt x="14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9" name="Freeform 12">
                <a:extLst>
                  <a:ext uri="{FF2B5EF4-FFF2-40B4-BE49-F238E27FC236}">
                    <a16:creationId xmlns:a16="http://schemas.microsoft.com/office/drawing/2014/main" id="{129A06B7-4EEA-470A-8634-B6C9CCA5E3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2476" y="2505075"/>
                <a:ext cx="198438" cy="34925"/>
              </a:xfrm>
              <a:custGeom>
                <a:avLst/>
                <a:gdLst>
                  <a:gd name="T0" fmla="*/ 0 w 112"/>
                  <a:gd name="T1" fmla="*/ 0 h 20"/>
                  <a:gd name="T2" fmla="*/ 0 w 112"/>
                  <a:gd name="T3" fmla="*/ 11 h 20"/>
                  <a:gd name="T4" fmla="*/ 56 w 112"/>
                  <a:gd name="T5" fmla="*/ 20 h 20"/>
                  <a:gd name="T6" fmla="*/ 112 w 112"/>
                  <a:gd name="T7" fmla="*/ 11 h 20"/>
                  <a:gd name="T8" fmla="*/ 112 w 112"/>
                  <a:gd name="T9" fmla="*/ 0 h 20"/>
                  <a:gd name="T10" fmla="*/ 56 w 112"/>
                  <a:gd name="T11" fmla="*/ 8 h 20"/>
                  <a:gd name="T12" fmla="*/ 0 w 112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2" h="20">
                    <a:moveTo>
                      <a:pt x="0" y="0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4" y="14"/>
                      <a:pt x="25" y="20"/>
                      <a:pt x="56" y="20"/>
                    </a:cubicBezTo>
                    <a:cubicBezTo>
                      <a:pt x="87" y="20"/>
                      <a:pt x="108" y="14"/>
                      <a:pt x="112" y="11"/>
                    </a:cubicBezTo>
                    <a:cubicBezTo>
                      <a:pt x="112" y="0"/>
                      <a:pt x="112" y="0"/>
                      <a:pt x="112" y="0"/>
                    </a:cubicBezTo>
                    <a:cubicBezTo>
                      <a:pt x="98" y="6"/>
                      <a:pt x="68" y="8"/>
                      <a:pt x="56" y="8"/>
                    </a:cubicBezTo>
                    <a:cubicBezTo>
                      <a:pt x="44" y="8"/>
                      <a:pt x="14" y="6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1F0C3E4-82DC-427C-862D-E5CA52F96DA5}"/>
                </a:ext>
              </a:extLst>
            </p:cNvPr>
            <p:cNvGrpSpPr/>
            <p:nvPr/>
          </p:nvGrpSpPr>
          <p:grpSpPr>
            <a:xfrm>
              <a:off x="7226215" y="2290668"/>
              <a:ext cx="335153" cy="335153"/>
              <a:chOff x="7216775" y="2235200"/>
              <a:chExt cx="446088" cy="446088"/>
            </a:xfrm>
            <a:solidFill>
              <a:schemeClr val="bg1"/>
            </a:solidFill>
            <a:effectLst/>
          </p:grpSpPr>
          <p:sp>
            <p:nvSpPr>
              <p:cNvPr id="31" name="Freeform 16" descr="This image is an icon of a chart. ">
                <a:extLst>
                  <a:ext uri="{FF2B5EF4-FFF2-40B4-BE49-F238E27FC236}">
                    <a16:creationId xmlns:a16="http://schemas.microsoft.com/office/drawing/2014/main" id="{D0F717E4-893B-4BC2-A438-FCF81AAF2F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16775" y="2384425"/>
                <a:ext cx="446088" cy="296863"/>
              </a:xfrm>
              <a:custGeom>
                <a:avLst/>
                <a:gdLst>
                  <a:gd name="T0" fmla="*/ 236 w 240"/>
                  <a:gd name="T1" fmla="*/ 152 h 160"/>
                  <a:gd name="T2" fmla="*/ 224 w 240"/>
                  <a:gd name="T3" fmla="*/ 152 h 160"/>
                  <a:gd name="T4" fmla="*/ 224 w 240"/>
                  <a:gd name="T5" fmla="*/ 4 h 160"/>
                  <a:gd name="T6" fmla="*/ 220 w 240"/>
                  <a:gd name="T7" fmla="*/ 0 h 160"/>
                  <a:gd name="T8" fmla="*/ 188 w 240"/>
                  <a:gd name="T9" fmla="*/ 0 h 160"/>
                  <a:gd name="T10" fmla="*/ 184 w 240"/>
                  <a:gd name="T11" fmla="*/ 4 h 160"/>
                  <a:gd name="T12" fmla="*/ 184 w 240"/>
                  <a:gd name="T13" fmla="*/ 152 h 160"/>
                  <a:gd name="T14" fmla="*/ 168 w 240"/>
                  <a:gd name="T15" fmla="*/ 152 h 160"/>
                  <a:gd name="T16" fmla="*/ 168 w 240"/>
                  <a:gd name="T17" fmla="*/ 76 h 160"/>
                  <a:gd name="T18" fmla="*/ 164 w 240"/>
                  <a:gd name="T19" fmla="*/ 72 h 160"/>
                  <a:gd name="T20" fmla="*/ 132 w 240"/>
                  <a:gd name="T21" fmla="*/ 72 h 160"/>
                  <a:gd name="T22" fmla="*/ 128 w 240"/>
                  <a:gd name="T23" fmla="*/ 76 h 160"/>
                  <a:gd name="T24" fmla="*/ 128 w 240"/>
                  <a:gd name="T25" fmla="*/ 152 h 160"/>
                  <a:gd name="T26" fmla="*/ 112 w 240"/>
                  <a:gd name="T27" fmla="*/ 152 h 160"/>
                  <a:gd name="T28" fmla="*/ 112 w 240"/>
                  <a:gd name="T29" fmla="*/ 52 h 160"/>
                  <a:gd name="T30" fmla="*/ 108 w 240"/>
                  <a:gd name="T31" fmla="*/ 48 h 160"/>
                  <a:gd name="T32" fmla="*/ 76 w 240"/>
                  <a:gd name="T33" fmla="*/ 48 h 160"/>
                  <a:gd name="T34" fmla="*/ 72 w 240"/>
                  <a:gd name="T35" fmla="*/ 52 h 160"/>
                  <a:gd name="T36" fmla="*/ 72 w 240"/>
                  <a:gd name="T37" fmla="*/ 152 h 160"/>
                  <a:gd name="T38" fmla="*/ 56 w 240"/>
                  <a:gd name="T39" fmla="*/ 152 h 160"/>
                  <a:gd name="T40" fmla="*/ 56 w 240"/>
                  <a:gd name="T41" fmla="*/ 108 h 160"/>
                  <a:gd name="T42" fmla="*/ 52 w 240"/>
                  <a:gd name="T43" fmla="*/ 104 h 160"/>
                  <a:gd name="T44" fmla="*/ 20 w 240"/>
                  <a:gd name="T45" fmla="*/ 104 h 160"/>
                  <a:gd name="T46" fmla="*/ 16 w 240"/>
                  <a:gd name="T47" fmla="*/ 108 h 160"/>
                  <a:gd name="T48" fmla="*/ 16 w 240"/>
                  <a:gd name="T49" fmla="*/ 152 h 160"/>
                  <a:gd name="T50" fmla="*/ 4 w 240"/>
                  <a:gd name="T51" fmla="*/ 152 h 160"/>
                  <a:gd name="T52" fmla="*/ 0 w 240"/>
                  <a:gd name="T53" fmla="*/ 156 h 160"/>
                  <a:gd name="T54" fmla="*/ 4 w 240"/>
                  <a:gd name="T55" fmla="*/ 160 h 160"/>
                  <a:gd name="T56" fmla="*/ 20 w 240"/>
                  <a:gd name="T57" fmla="*/ 160 h 160"/>
                  <a:gd name="T58" fmla="*/ 52 w 240"/>
                  <a:gd name="T59" fmla="*/ 160 h 160"/>
                  <a:gd name="T60" fmla="*/ 76 w 240"/>
                  <a:gd name="T61" fmla="*/ 160 h 160"/>
                  <a:gd name="T62" fmla="*/ 108 w 240"/>
                  <a:gd name="T63" fmla="*/ 160 h 160"/>
                  <a:gd name="T64" fmla="*/ 132 w 240"/>
                  <a:gd name="T65" fmla="*/ 160 h 160"/>
                  <a:gd name="T66" fmla="*/ 164 w 240"/>
                  <a:gd name="T67" fmla="*/ 160 h 160"/>
                  <a:gd name="T68" fmla="*/ 188 w 240"/>
                  <a:gd name="T69" fmla="*/ 160 h 160"/>
                  <a:gd name="T70" fmla="*/ 220 w 240"/>
                  <a:gd name="T71" fmla="*/ 160 h 160"/>
                  <a:gd name="T72" fmla="*/ 236 w 240"/>
                  <a:gd name="T73" fmla="*/ 160 h 160"/>
                  <a:gd name="T74" fmla="*/ 240 w 240"/>
                  <a:gd name="T75" fmla="*/ 156 h 160"/>
                  <a:gd name="T76" fmla="*/ 236 w 240"/>
                  <a:gd name="T77" fmla="*/ 152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40" h="160">
                    <a:moveTo>
                      <a:pt x="236" y="152"/>
                    </a:moveTo>
                    <a:cubicBezTo>
                      <a:pt x="224" y="152"/>
                      <a:pt x="224" y="152"/>
                      <a:pt x="224" y="152"/>
                    </a:cubicBezTo>
                    <a:cubicBezTo>
                      <a:pt x="224" y="4"/>
                      <a:pt x="224" y="4"/>
                      <a:pt x="224" y="4"/>
                    </a:cubicBezTo>
                    <a:cubicBezTo>
                      <a:pt x="224" y="2"/>
                      <a:pt x="222" y="0"/>
                      <a:pt x="220" y="0"/>
                    </a:cubicBezTo>
                    <a:cubicBezTo>
                      <a:pt x="188" y="0"/>
                      <a:pt x="188" y="0"/>
                      <a:pt x="188" y="0"/>
                    </a:cubicBezTo>
                    <a:cubicBezTo>
                      <a:pt x="186" y="0"/>
                      <a:pt x="184" y="2"/>
                      <a:pt x="184" y="4"/>
                    </a:cubicBezTo>
                    <a:cubicBezTo>
                      <a:pt x="184" y="152"/>
                      <a:pt x="184" y="152"/>
                      <a:pt x="184" y="152"/>
                    </a:cubicBezTo>
                    <a:cubicBezTo>
                      <a:pt x="168" y="152"/>
                      <a:pt x="168" y="152"/>
                      <a:pt x="168" y="152"/>
                    </a:cubicBezTo>
                    <a:cubicBezTo>
                      <a:pt x="168" y="76"/>
                      <a:pt x="168" y="76"/>
                      <a:pt x="168" y="76"/>
                    </a:cubicBezTo>
                    <a:cubicBezTo>
                      <a:pt x="168" y="74"/>
                      <a:pt x="166" y="72"/>
                      <a:pt x="164" y="72"/>
                    </a:cubicBezTo>
                    <a:cubicBezTo>
                      <a:pt x="132" y="72"/>
                      <a:pt x="132" y="72"/>
                      <a:pt x="132" y="72"/>
                    </a:cubicBezTo>
                    <a:cubicBezTo>
                      <a:pt x="130" y="72"/>
                      <a:pt x="128" y="74"/>
                      <a:pt x="128" y="76"/>
                    </a:cubicBezTo>
                    <a:cubicBezTo>
                      <a:pt x="128" y="152"/>
                      <a:pt x="128" y="152"/>
                      <a:pt x="128" y="152"/>
                    </a:cubicBezTo>
                    <a:cubicBezTo>
                      <a:pt x="112" y="152"/>
                      <a:pt x="112" y="152"/>
                      <a:pt x="112" y="152"/>
                    </a:cubicBezTo>
                    <a:cubicBezTo>
                      <a:pt x="112" y="52"/>
                      <a:pt x="112" y="52"/>
                      <a:pt x="112" y="52"/>
                    </a:cubicBezTo>
                    <a:cubicBezTo>
                      <a:pt x="112" y="50"/>
                      <a:pt x="110" y="48"/>
                      <a:pt x="108" y="48"/>
                    </a:cubicBezTo>
                    <a:cubicBezTo>
                      <a:pt x="76" y="48"/>
                      <a:pt x="76" y="48"/>
                      <a:pt x="76" y="48"/>
                    </a:cubicBezTo>
                    <a:cubicBezTo>
                      <a:pt x="74" y="48"/>
                      <a:pt x="72" y="50"/>
                      <a:pt x="72" y="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56" y="152"/>
                      <a:pt x="56" y="152"/>
                      <a:pt x="56" y="152"/>
                    </a:cubicBezTo>
                    <a:cubicBezTo>
                      <a:pt x="56" y="108"/>
                      <a:pt x="56" y="108"/>
                      <a:pt x="56" y="108"/>
                    </a:cubicBezTo>
                    <a:cubicBezTo>
                      <a:pt x="56" y="106"/>
                      <a:pt x="54" y="104"/>
                      <a:pt x="52" y="104"/>
                    </a:cubicBezTo>
                    <a:cubicBezTo>
                      <a:pt x="20" y="104"/>
                      <a:pt x="20" y="104"/>
                      <a:pt x="20" y="104"/>
                    </a:cubicBezTo>
                    <a:cubicBezTo>
                      <a:pt x="18" y="104"/>
                      <a:pt x="16" y="106"/>
                      <a:pt x="16" y="108"/>
                    </a:cubicBezTo>
                    <a:cubicBezTo>
                      <a:pt x="16" y="152"/>
                      <a:pt x="16" y="152"/>
                      <a:pt x="16" y="152"/>
                    </a:cubicBezTo>
                    <a:cubicBezTo>
                      <a:pt x="4" y="152"/>
                      <a:pt x="4" y="152"/>
                      <a:pt x="4" y="152"/>
                    </a:cubicBezTo>
                    <a:cubicBezTo>
                      <a:pt x="2" y="152"/>
                      <a:pt x="0" y="154"/>
                      <a:pt x="0" y="156"/>
                    </a:cubicBezTo>
                    <a:cubicBezTo>
                      <a:pt x="0" y="158"/>
                      <a:pt x="2" y="160"/>
                      <a:pt x="4" y="160"/>
                    </a:cubicBezTo>
                    <a:cubicBezTo>
                      <a:pt x="20" y="160"/>
                      <a:pt x="20" y="160"/>
                      <a:pt x="20" y="160"/>
                    </a:cubicBezTo>
                    <a:cubicBezTo>
                      <a:pt x="52" y="160"/>
                      <a:pt x="52" y="160"/>
                      <a:pt x="52" y="160"/>
                    </a:cubicBezTo>
                    <a:cubicBezTo>
                      <a:pt x="76" y="160"/>
                      <a:pt x="76" y="160"/>
                      <a:pt x="76" y="160"/>
                    </a:cubicBezTo>
                    <a:cubicBezTo>
                      <a:pt x="108" y="160"/>
                      <a:pt x="108" y="160"/>
                      <a:pt x="108" y="160"/>
                    </a:cubicBezTo>
                    <a:cubicBezTo>
                      <a:pt x="132" y="160"/>
                      <a:pt x="132" y="160"/>
                      <a:pt x="132" y="160"/>
                    </a:cubicBezTo>
                    <a:cubicBezTo>
                      <a:pt x="164" y="160"/>
                      <a:pt x="164" y="160"/>
                      <a:pt x="164" y="160"/>
                    </a:cubicBezTo>
                    <a:cubicBezTo>
                      <a:pt x="188" y="160"/>
                      <a:pt x="188" y="160"/>
                      <a:pt x="188" y="160"/>
                    </a:cubicBezTo>
                    <a:cubicBezTo>
                      <a:pt x="220" y="160"/>
                      <a:pt x="220" y="160"/>
                      <a:pt x="220" y="160"/>
                    </a:cubicBezTo>
                    <a:cubicBezTo>
                      <a:pt x="236" y="160"/>
                      <a:pt x="236" y="160"/>
                      <a:pt x="236" y="160"/>
                    </a:cubicBezTo>
                    <a:cubicBezTo>
                      <a:pt x="238" y="160"/>
                      <a:pt x="240" y="158"/>
                      <a:pt x="240" y="156"/>
                    </a:cubicBezTo>
                    <a:cubicBezTo>
                      <a:pt x="240" y="154"/>
                      <a:pt x="238" y="152"/>
                      <a:pt x="236" y="1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2" name="Freeform 17">
                <a:extLst>
                  <a:ext uri="{FF2B5EF4-FFF2-40B4-BE49-F238E27FC236}">
                    <a16:creationId xmlns:a16="http://schemas.microsoft.com/office/drawing/2014/main" id="{061A6E45-BB1D-4A8A-961A-6B52A2FBF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6938" y="2235200"/>
                <a:ext cx="393700" cy="246063"/>
              </a:xfrm>
              <a:custGeom>
                <a:avLst/>
                <a:gdLst>
                  <a:gd name="T0" fmla="*/ 16 w 212"/>
                  <a:gd name="T1" fmla="*/ 132 h 132"/>
                  <a:gd name="T2" fmla="*/ 32 w 212"/>
                  <a:gd name="T3" fmla="*/ 116 h 132"/>
                  <a:gd name="T4" fmla="*/ 30 w 212"/>
                  <a:gd name="T5" fmla="*/ 109 h 132"/>
                  <a:gd name="T6" fmla="*/ 67 w 212"/>
                  <a:gd name="T7" fmla="*/ 77 h 132"/>
                  <a:gd name="T8" fmla="*/ 76 w 212"/>
                  <a:gd name="T9" fmla="*/ 80 h 132"/>
                  <a:gd name="T10" fmla="*/ 89 w 212"/>
                  <a:gd name="T11" fmla="*/ 73 h 132"/>
                  <a:gd name="T12" fmla="*/ 120 w 212"/>
                  <a:gd name="T13" fmla="*/ 86 h 132"/>
                  <a:gd name="T14" fmla="*/ 120 w 212"/>
                  <a:gd name="T15" fmla="*/ 88 h 132"/>
                  <a:gd name="T16" fmla="*/ 136 w 212"/>
                  <a:gd name="T17" fmla="*/ 104 h 132"/>
                  <a:gd name="T18" fmla="*/ 152 w 212"/>
                  <a:gd name="T19" fmla="*/ 88 h 132"/>
                  <a:gd name="T20" fmla="*/ 149 w 212"/>
                  <a:gd name="T21" fmla="*/ 79 h 132"/>
                  <a:gd name="T22" fmla="*/ 189 w 212"/>
                  <a:gd name="T23" fmla="*/ 30 h 132"/>
                  <a:gd name="T24" fmla="*/ 196 w 212"/>
                  <a:gd name="T25" fmla="*/ 32 h 132"/>
                  <a:gd name="T26" fmla="*/ 212 w 212"/>
                  <a:gd name="T27" fmla="*/ 16 h 132"/>
                  <a:gd name="T28" fmla="*/ 196 w 212"/>
                  <a:gd name="T29" fmla="*/ 0 h 132"/>
                  <a:gd name="T30" fmla="*/ 180 w 212"/>
                  <a:gd name="T31" fmla="*/ 16 h 132"/>
                  <a:gd name="T32" fmla="*/ 183 w 212"/>
                  <a:gd name="T33" fmla="*/ 25 h 132"/>
                  <a:gd name="T34" fmla="*/ 143 w 212"/>
                  <a:gd name="T35" fmla="*/ 74 h 132"/>
                  <a:gd name="T36" fmla="*/ 136 w 212"/>
                  <a:gd name="T37" fmla="*/ 72 h 132"/>
                  <a:gd name="T38" fmla="*/ 123 w 212"/>
                  <a:gd name="T39" fmla="*/ 79 h 132"/>
                  <a:gd name="T40" fmla="*/ 92 w 212"/>
                  <a:gd name="T41" fmla="*/ 66 h 132"/>
                  <a:gd name="T42" fmla="*/ 92 w 212"/>
                  <a:gd name="T43" fmla="*/ 64 h 132"/>
                  <a:gd name="T44" fmla="*/ 76 w 212"/>
                  <a:gd name="T45" fmla="*/ 48 h 132"/>
                  <a:gd name="T46" fmla="*/ 60 w 212"/>
                  <a:gd name="T47" fmla="*/ 64 h 132"/>
                  <a:gd name="T48" fmla="*/ 62 w 212"/>
                  <a:gd name="T49" fmla="*/ 71 h 132"/>
                  <a:gd name="T50" fmla="*/ 25 w 212"/>
                  <a:gd name="T51" fmla="*/ 103 h 132"/>
                  <a:gd name="T52" fmla="*/ 16 w 212"/>
                  <a:gd name="T53" fmla="*/ 100 h 132"/>
                  <a:gd name="T54" fmla="*/ 0 w 212"/>
                  <a:gd name="T55" fmla="*/ 116 h 132"/>
                  <a:gd name="T56" fmla="*/ 16 w 212"/>
                  <a:gd name="T57" fmla="*/ 132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12" h="132">
                    <a:moveTo>
                      <a:pt x="16" y="132"/>
                    </a:moveTo>
                    <a:cubicBezTo>
                      <a:pt x="25" y="132"/>
                      <a:pt x="32" y="125"/>
                      <a:pt x="32" y="116"/>
                    </a:cubicBezTo>
                    <a:cubicBezTo>
                      <a:pt x="32" y="113"/>
                      <a:pt x="31" y="111"/>
                      <a:pt x="30" y="109"/>
                    </a:cubicBezTo>
                    <a:cubicBezTo>
                      <a:pt x="67" y="77"/>
                      <a:pt x="67" y="77"/>
                      <a:pt x="67" y="77"/>
                    </a:cubicBezTo>
                    <a:cubicBezTo>
                      <a:pt x="70" y="79"/>
                      <a:pt x="73" y="80"/>
                      <a:pt x="76" y="80"/>
                    </a:cubicBezTo>
                    <a:cubicBezTo>
                      <a:pt x="81" y="80"/>
                      <a:pt x="86" y="77"/>
                      <a:pt x="89" y="73"/>
                    </a:cubicBezTo>
                    <a:cubicBezTo>
                      <a:pt x="120" y="86"/>
                      <a:pt x="120" y="86"/>
                      <a:pt x="120" y="86"/>
                    </a:cubicBezTo>
                    <a:cubicBezTo>
                      <a:pt x="120" y="87"/>
                      <a:pt x="120" y="87"/>
                      <a:pt x="120" y="88"/>
                    </a:cubicBezTo>
                    <a:cubicBezTo>
                      <a:pt x="120" y="97"/>
                      <a:pt x="127" y="104"/>
                      <a:pt x="136" y="104"/>
                    </a:cubicBezTo>
                    <a:cubicBezTo>
                      <a:pt x="145" y="104"/>
                      <a:pt x="152" y="97"/>
                      <a:pt x="152" y="88"/>
                    </a:cubicBezTo>
                    <a:cubicBezTo>
                      <a:pt x="152" y="85"/>
                      <a:pt x="151" y="81"/>
                      <a:pt x="149" y="79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91" y="31"/>
                      <a:pt x="194" y="32"/>
                      <a:pt x="196" y="32"/>
                    </a:cubicBezTo>
                    <a:cubicBezTo>
                      <a:pt x="205" y="32"/>
                      <a:pt x="212" y="25"/>
                      <a:pt x="212" y="16"/>
                    </a:cubicBezTo>
                    <a:cubicBezTo>
                      <a:pt x="212" y="7"/>
                      <a:pt x="205" y="0"/>
                      <a:pt x="196" y="0"/>
                    </a:cubicBezTo>
                    <a:cubicBezTo>
                      <a:pt x="187" y="0"/>
                      <a:pt x="180" y="7"/>
                      <a:pt x="180" y="16"/>
                    </a:cubicBezTo>
                    <a:cubicBezTo>
                      <a:pt x="180" y="19"/>
                      <a:pt x="181" y="23"/>
                      <a:pt x="183" y="25"/>
                    </a:cubicBezTo>
                    <a:cubicBezTo>
                      <a:pt x="143" y="74"/>
                      <a:pt x="143" y="74"/>
                      <a:pt x="143" y="74"/>
                    </a:cubicBezTo>
                    <a:cubicBezTo>
                      <a:pt x="141" y="73"/>
                      <a:pt x="138" y="72"/>
                      <a:pt x="136" y="72"/>
                    </a:cubicBezTo>
                    <a:cubicBezTo>
                      <a:pt x="131" y="72"/>
                      <a:pt x="126" y="75"/>
                      <a:pt x="123" y="79"/>
                    </a:cubicBezTo>
                    <a:cubicBezTo>
                      <a:pt x="92" y="66"/>
                      <a:pt x="92" y="66"/>
                      <a:pt x="92" y="66"/>
                    </a:cubicBezTo>
                    <a:cubicBezTo>
                      <a:pt x="92" y="65"/>
                      <a:pt x="92" y="65"/>
                      <a:pt x="92" y="64"/>
                    </a:cubicBezTo>
                    <a:cubicBezTo>
                      <a:pt x="92" y="55"/>
                      <a:pt x="85" y="48"/>
                      <a:pt x="76" y="48"/>
                    </a:cubicBezTo>
                    <a:cubicBezTo>
                      <a:pt x="67" y="48"/>
                      <a:pt x="60" y="55"/>
                      <a:pt x="60" y="64"/>
                    </a:cubicBezTo>
                    <a:cubicBezTo>
                      <a:pt x="60" y="67"/>
                      <a:pt x="61" y="69"/>
                      <a:pt x="62" y="71"/>
                    </a:cubicBezTo>
                    <a:cubicBezTo>
                      <a:pt x="25" y="103"/>
                      <a:pt x="25" y="103"/>
                      <a:pt x="25" y="103"/>
                    </a:cubicBezTo>
                    <a:cubicBezTo>
                      <a:pt x="22" y="101"/>
                      <a:pt x="19" y="100"/>
                      <a:pt x="16" y="100"/>
                    </a:cubicBezTo>
                    <a:cubicBezTo>
                      <a:pt x="7" y="100"/>
                      <a:pt x="0" y="107"/>
                      <a:pt x="0" y="116"/>
                    </a:cubicBezTo>
                    <a:cubicBezTo>
                      <a:pt x="0" y="125"/>
                      <a:pt x="7" y="132"/>
                      <a:pt x="16" y="1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A7A1373-6F5C-4BA2-8E1A-5097878CB268}"/>
                </a:ext>
              </a:extLst>
            </p:cNvPr>
            <p:cNvGrpSpPr/>
            <p:nvPr/>
          </p:nvGrpSpPr>
          <p:grpSpPr>
            <a:xfrm>
              <a:off x="4663791" y="4945150"/>
              <a:ext cx="278695" cy="278695"/>
              <a:chOff x="4549775" y="4899025"/>
              <a:chExt cx="455613" cy="455613"/>
            </a:xfrm>
            <a:solidFill>
              <a:schemeClr val="bg1"/>
            </a:solidFill>
            <a:effectLst/>
          </p:grpSpPr>
          <p:sp>
            <p:nvSpPr>
              <p:cNvPr id="34" name="Freeform 21" descr="This image is an icon of a presentation board. ">
                <a:extLst>
                  <a:ext uri="{FF2B5EF4-FFF2-40B4-BE49-F238E27FC236}">
                    <a16:creationId xmlns:a16="http://schemas.microsoft.com/office/drawing/2014/main" id="{B0AB35E0-D347-40DF-B5E3-6F38798D867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549775" y="4899025"/>
                <a:ext cx="455613" cy="455613"/>
              </a:xfrm>
              <a:custGeom>
                <a:avLst/>
                <a:gdLst>
                  <a:gd name="T0" fmla="*/ 236 w 240"/>
                  <a:gd name="T1" fmla="*/ 0 h 240"/>
                  <a:gd name="T2" fmla="*/ 4 w 240"/>
                  <a:gd name="T3" fmla="*/ 0 h 240"/>
                  <a:gd name="T4" fmla="*/ 0 w 240"/>
                  <a:gd name="T5" fmla="*/ 4 h 240"/>
                  <a:gd name="T6" fmla="*/ 0 w 240"/>
                  <a:gd name="T7" fmla="*/ 156 h 240"/>
                  <a:gd name="T8" fmla="*/ 4 w 240"/>
                  <a:gd name="T9" fmla="*/ 160 h 240"/>
                  <a:gd name="T10" fmla="*/ 116 w 240"/>
                  <a:gd name="T11" fmla="*/ 160 h 240"/>
                  <a:gd name="T12" fmla="*/ 116 w 240"/>
                  <a:gd name="T13" fmla="*/ 186 h 240"/>
                  <a:gd name="T14" fmla="*/ 69 w 240"/>
                  <a:gd name="T15" fmla="*/ 233 h 240"/>
                  <a:gd name="T16" fmla="*/ 69 w 240"/>
                  <a:gd name="T17" fmla="*/ 239 h 240"/>
                  <a:gd name="T18" fmla="*/ 75 w 240"/>
                  <a:gd name="T19" fmla="*/ 239 h 240"/>
                  <a:gd name="T20" fmla="*/ 120 w 240"/>
                  <a:gd name="T21" fmla="*/ 194 h 240"/>
                  <a:gd name="T22" fmla="*/ 165 w 240"/>
                  <a:gd name="T23" fmla="*/ 239 h 240"/>
                  <a:gd name="T24" fmla="*/ 168 w 240"/>
                  <a:gd name="T25" fmla="*/ 240 h 240"/>
                  <a:gd name="T26" fmla="*/ 171 w 240"/>
                  <a:gd name="T27" fmla="*/ 239 h 240"/>
                  <a:gd name="T28" fmla="*/ 171 w 240"/>
                  <a:gd name="T29" fmla="*/ 233 h 240"/>
                  <a:gd name="T30" fmla="*/ 124 w 240"/>
                  <a:gd name="T31" fmla="*/ 186 h 240"/>
                  <a:gd name="T32" fmla="*/ 124 w 240"/>
                  <a:gd name="T33" fmla="*/ 160 h 240"/>
                  <a:gd name="T34" fmla="*/ 236 w 240"/>
                  <a:gd name="T35" fmla="*/ 160 h 240"/>
                  <a:gd name="T36" fmla="*/ 240 w 240"/>
                  <a:gd name="T37" fmla="*/ 156 h 240"/>
                  <a:gd name="T38" fmla="*/ 240 w 240"/>
                  <a:gd name="T39" fmla="*/ 4 h 240"/>
                  <a:gd name="T40" fmla="*/ 236 w 240"/>
                  <a:gd name="T41" fmla="*/ 0 h 240"/>
                  <a:gd name="T42" fmla="*/ 216 w 240"/>
                  <a:gd name="T43" fmla="*/ 132 h 240"/>
                  <a:gd name="T44" fmla="*/ 212 w 240"/>
                  <a:gd name="T45" fmla="*/ 136 h 240"/>
                  <a:gd name="T46" fmla="*/ 28 w 240"/>
                  <a:gd name="T47" fmla="*/ 136 h 240"/>
                  <a:gd name="T48" fmla="*/ 24 w 240"/>
                  <a:gd name="T49" fmla="*/ 132 h 240"/>
                  <a:gd name="T50" fmla="*/ 24 w 240"/>
                  <a:gd name="T51" fmla="*/ 84 h 240"/>
                  <a:gd name="T52" fmla="*/ 24 w 240"/>
                  <a:gd name="T53" fmla="*/ 28 h 240"/>
                  <a:gd name="T54" fmla="*/ 28 w 240"/>
                  <a:gd name="T55" fmla="*/ 24 h 240"/>
                  <a:gd name="T56" fmla="*/ 212 w 240"/>
                  <a:gd name="T57" fmla="*/ 24 h 240"/>
                  <a:gd name="T58" fmla="*/ 216 w 240"/>
                  <a:gd name="T59" fmla="*/ 28 h 240"/>
                  <a:gd name="T60" fmla="*/ 216 w 240"/>
                  <a:gd name="T61" fmla="*/ 132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40" h="240">
                    <a:moveTo>
                      <a:pt x="236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156"/>
                      <a:pt x="0" y="156"/>
                      <a:pt x="0" y="156"/>
                    </a:cubicBezTo>
                    <a:cubicBezTo>
                      <a:pt x="0" y="158"/>
                      <a:pt x="2" y="160"/>
                      <a:pt x="4" y="160"/>
                    </a:cubicBezTo>
                    <a:cubicBezTo>
                      <a:pt x="116" y="160"/>
                      <a:pt x="116" y="160"/>
                      <a:pt x="116" y="160"/>
                    </a:cubicBezTo>
                    <a:cubicBezTo>
                      <a:pt x="116" y="186"/>
                      <a:pt x="116" y="186"/>
                      <a:pt x="116" y="186"/>
                    </a:cubicBezTo>
                    <a:cubicBezTo>
                      <a:pt x="69" y="233"/>
                      <a:pt x="69" y="233"/>
                      <a:pt x="69" y="233"/>
                    </a:cubicBezTo>
                    <a:cubicBezTo>
                      <a:pt x="68" y="235"/>
                      <a:pt x="68" y="237"/>
                      <a:pt x="69" y="239"/>
                    </a:cubicBezTo>
                    <a:cubicBezTo>
                      <a:pt x="71" y="240"/>
                      <a:pt x="73" y="240"/>
                      <a:pt x="75" y="239"/>
                    </a:cubicBezTo>
                    <a:cubicBezTo>
                      <a:pt x="120" y="194"/>
                      <a:pt x="120" y="194"/>
                      <a:pt x="120" y="194"/>
                    </a:cubicBezTo>
                    <a:cubicBezTo>
                      <a:pt x="165" y="239"/>
                      <a:pt x="165" y="239"/>
                      <a:pt x="165" y="239"/>
                    </a:cubicBezTo>
                    <a:cubicBezTo>
                      <a:pt x="166" y="240"/>
                      <a:pt x="167" y="240"/>
                      <a:pt x="168" y="240"/>
                    </a:cubicBezTo>
                    <a:cubicBezTo>
                      <a:pt x="169" y="240"/>
                      <a:pt x="170" y="240"/>
                      <a:pt x="171" y="239"/>
                    </a:cubicBezTo>
                    <a:cubicBezTo>
                      <a:pt x="172" y="237"/>
                      <a:pt x="172" y="235"/>
                      <a:pt x="171" y="233"/>
                    </a:cubicBezTo>
                    <a:cubicBezTo>
                      <a:pt x="124" y="186"/>
                      <a:pt x="124" y="186"/>
                      <a:pt x="124" y="186"/>
                    </a:cubicBezTo>
                    <a:cubicBezTo>
                      <a:pt x="124" y="160"/>
                      <a:pt x="124" y="160"/>
                      <a:pt x="124" y="160"/>
                    </a:cubicBezTo>
                    <a:cubicBezTo>
                      <a:pt x="236" y="160"/>
                      <a:pt x="236" y="160"/>
                      <a:pt x="236" y="160"/>
                    </a:cubicBezTo>
                    <a:cubicBezTo>
                      <a:pt x="238" y="160"/>
                      <a:pt x="240" y="158"/>
                      <a:pt x="240" y="156"/>
                    </a:cubicBezTo>
                    <a:cubicBezTo>
                      <a:pt x="240" y="4"/>
                      <a:pt x="240" y="4"/>
                      <a:pt x="240" y="4"/>
                    </a:cubicBezTo>
                    <a:cubicBezTo>
                      <a:pt x="240" y="2"/>
                      <a:pt x="238" y="0"/>
                      <a:pt x="236" y="0"/>
                    </a:cubicBezTo>
                    <a:close/>
                    <a:moveTo>
                      <a:pt x="216" y="132"/>
                    </a:moveTo>
                    <a:cubicBezTo>
                      <a:pt x="216" y="134"/>
                      <a:pt x="214" y="136"/>
                      <a:pt x="212" y="136"/>
                    </a:cubicBezTo>
                    <a:cubicBezTo>
                      <a:pt x="28" y="136"/>
                      <a:pt x="28" y="136"/>
                      <a:pt x="28" y="136"/>
                    </a:cubicBezTo>
                    <a:cubicBezTo>
                      <a:pt x="26" y="136"/>
                      <a:pt x="24" y="134"/>
                      <a:pt x="24" y="132"/>
                    </a:cubicBezTo>
                    <a:cubicBezTo>
                      <a:pt x="24" y="84"/>
                      <a:pt x="24" y="84"/>
                      <a:pt x="24" y="84"/>
                    </a:cubicBezTo>
                    <a:cubicBezTo>
                      <a:pt x="24" y="28"/>
                      <a:pt x="24" y="28"/>
                      <a:pt x="24" y="28"/>
                    </a:cubicBezTo>
                    <a:cubicBezTo>
                      <a:pt x="24" y="26"/>
                      <a:pt x="26" y="24"/>
                      <a:pt x="28" y="24"/>
                    </a:cubicBezTo>
                    <a:cubicBezTo>
                      <a:pt x="212" y="24"/>
                      <a:pt x="212" y="24"/>
                      <a:pt x="212" y="24"/>
                    </a:cubicBezTo>
                    <a:cubicBezTo>
                      <a:pt x="214" y="24"/>
                      <a:pt x="216" y="26"/>
                      <a:pt x="216" y="28"/>
                    </a:cubicBezTo>
                    <a:lnTo>
                      <a:pt x="216" y="1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5" name="Freeform 22" descr="This image is an icon of a presentation chart. ">
                <a:extLst>
                  <a:ext uri="{FF2B5EF4-FFF2-40B4-BE49-F238E27FC236}">
                    <a16:creationId xmlns:a16="http://schemas.microsoft.com/office/drawing/2014/main" id="{AD5885CD-3A93-477D-BAB3-BA7A26C97A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5813" y="4989513"/>
                <a:ext cx="319088" cy="114300"/>
              </a:xfrm>
              <a:custGeom>
                <a:avLst/>
                <a:gdLst>
                  <a:gd name="T0" fmla="*/ 4 w 168"/>
                  <a:gd name="T1" fmla="*/ 40 h 60"/>
                  <a:gd name="T2" fmla="*/ 40 w 168"/>
                  <a:gd name="T3" fmla="*/ 40 h 60"/>
                  <a:gd name="T4" fmla="*/ 43 w 168"/>
                  <a:gd name="T5" fmla="*/ 39 h 60"/>
                  <a:gd name="T6" fmla="*/ 61 w 168"/>
                  <a:gd name="T7" fmla="*/ 20 h 60"/>
                  <a:gd name="T8" fmla="*/ 76 w 168"/>
                  <a:gd name="T9" fmla="*/ 58 h 60"/>
                  <a:gd name="T10" fmla="*/ 79 w 168"/>
                  <a:gd name="T11" fmla="*/ 60 h 60"/>
                  <a:gd name="T12" fmla="*/ 80 w 168"/>
                  <a:gd name="T13" fmla="*/ 60 h 60"/>
                  <a:gd name="T14" fmla="*/ 83 w 168"/>
                  <a:gd name="T15" fmla="*/ 59 h 60"/>
                  <a:gd name="T16" fmla="*/ 108 w 168"/>
                  <a:gd name="T17" fmla="*/ 34 h 60"/>
                  <a:gd name="T18" fmla="*/ 125 w 168"/>
                  <a:gd name="T19" fmla="*/ 51 h 60"/>
                  <a:gd name="T20" fmla="*/ 128 w 168"/>
                  <a:gd name="T21" fmla="*/ 52 h 60"/>
                  <a:gd name="T22" fmla="*/ 131 w 168"/>
                  <a:gd name="T23" fmla="*/ 51 h 60"/>
                  <a:gd name="T24" fmla="*/ 167 w 168"/>
                  <a:gd name="T25" fmla="*/ 7 h 60"/>
                  <a:gd name="T26" fmla="*/ 167 w 168"/>
                  <a:gd name="T27" fmla="*/ 1 h 60"/>
                  <a:gd name="T28" fmla="*/ 161 w 168"/>
                  <a:gd name="T29" fmla="*/ 1 h 60"/>
                  <a:gd name="T30" fmla="*/ 128 w 168"/>
                  <a:gd name="T31" fmla="*/ 42 h 60"/>
                  <a:gd name="T32" fmla="*/ 111 w 168"/>
                  <a:gd name="T33" fmla="*/ 25 h 60"/>
                  <a:gd name="T34" fmla="*/ 105 w 168"/>
                  <a:gd name="T35" fmla="*/ 25 h 60"/>
                  <a:gd name="T36" fmla="*/ 81 w 168"/>
                  <a:gd name="T37" fmla="*/ 49 h 60"/>
                  <a:gd name="T38" fmla="*/ 66 w 168"/>
                  <a:gd name="T39" fmla="*/ 11 h 60"/>
                  <a:gd name="T40" fmla="*/ 63 w 168"/>
                  <a:gd name="T41" fmla="*/ 9 h 60"/>
                  <a:gd name="T42" fmla="*/ 59 w 168"/>
                  <a:gd name="T43" fmla="*/ 10 h 60"/>
                  <a:gd name="T44" fmla="*/ 38 w 168"/>
                  <a:gd name="T45" fmla="*/ 32 h 60"/>
                  <a:gd name="T46" fmla="*/ 4 w 168"/>
                  <a:gd name="T47" fmla="*/ 32 h 60"/>
                  <a:gd name="T48" fmla="*/ 0 w 168"/>
                  <a:gd name="T49" fmla="*/ 36 h 60"/>
                  <a:gd name="T50" fmla="*/ 4 w 168"/>
                  <a:gd name="T51" fmla="*/ 4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68" h="60">
                    <a:moveTo>
                      <a:pt x="4" y="40"/>
                    </a:moveTo>
                    <a:cubicBezTo>
                      <a:pt x="40" y="40"/>
                      <a:pt x="40" y="40"/>
                      <a:pt x="40" y="40"/>
                    </a:cubicBezTo>
                    <a:cubicBezTo>
                      <a:pt x="41" y="40"/>
                      <a:pt x="42" y="40"/>
                      <a:pt x="43" y="39"/>
                    </a:cubicBezTo>
                    <a:cubicBezTo>
                      <a:pt x="61" y="20"/>
                      <a:pt x="61" y="20"/>
                      <a:pt x="61" y="20"/>
                    </a:cubicBezTo>
                    <a:cubicBezTo>
                      <a:pt x="76" y="58"/>
                      <a:pt x="76" y="58"/>
                      <a:pt x="76" y="58"/>
                    </a:cubicBezTo>
                    <a:cubicBezTo>
                      <a:pt x="77" y="59"/>
                      <a:pt x="78" y="60"/>
                      <a:pt x="79" y="60"/>
                    </a:cubicBezTo>
                    <a:cubicBezTo>
                      <a:pt x="79" y="60"/>
                      <a:pt x="80" y="60"/>
                      <a:pt x="80" y="60"/>
                    </a:cubicBezTo>
                    <a:cubicBezTo>
                      <a:pt x="81" y="60"/>
                      <a:pt x="82" y="60"/>
                      <a:pt x="83" y="59"/>
                    </a:cubicBezTo>
                    <a:cubicBezTo>
                      <a:pt x="108" y="34"/>
                      <a:pt x="108" y="34"/>
                      <a:pt x="108" y="34"/>
                    </a:cubicBezTo>
                    <a:cubicBezTo>
                      <a:pt x="125" y="51"/>
                      <a:pt x="125" y="51"/>
                      <a:pt x="125" y="51"/>
                    </a:cubicBezTo>
                    <a:cubicBezTo>
                      <a:pt x="126" y="52"/>
                      <a:pt x="127" y="52"/>
                      <a:pt x="128" y="52"/>
                    </a:cubicBezTo>
                    <a:cubicBezTo>
                      <a:pt x="129" y="52"/>
                      <a:pt x="130" y="51"/>
                      <a:pt x="131" y="51"/>
                    </a:cubicBezTo>
                    <a:cubicBezTo>
                      <a:pt x="167" y="7"/>
                      <a:pt x="167" y="7"/>
                      <a:pt x="167" y="7"/>
                    </a:cubicBezTo>
                    <a:cubicBezTo>
                      <a:pt x="168" y="5"/>
                      <a:pt x="168" y="2"/>
                      <a:pt x="167" y="1"/>
                    </a:cubicBezTo>
                    <a:cubicBezTo>
                      <a:pt x="165" y="0"/>
                      <a:pt x="162" y="0"/>
                      <a:pt x="161" y="1"/>
                    </a:cubicBezTo>
                    <a:cubicBezTo>
                      <a:pt x="128" y="42"/>
                      <a:pt x="128" y="42"/>
                      <a:pt x="128" y="42"/>
                    </a:cubicBezTo>
                    <a:cubicBezTo>
                      <a:pt x="111" y="25"/>
                      <a:pt x="111" y="25"/>
                      <a:pt x="111" y="25"/>
                    </a:cubicBezTo>
                    <a:cubicBezTo>
                      <a:pt x="109" y="24"/>
                      <a:pt x="107" y="24"/>
                      <a:pt x="105" y="25"/>
                    </a:cubicBezTo>
                    <a:cubicBezTo>
                      <a:pt x="81" y="49"/>
                      <a:pt x="81" y="49"/>
                      <a:pt x="81" y="49"/>
                    </a:cubicBezTo>
                    <a:cubicBezTo>
                      <a:pt x="66" y="11"/>
                      <a:pt x="66" y="11"/>
                      <a:pt x="66" y="11"/>
                    </a:cubicBezTo>
                    <a:cubicBezTo>
                      <a:pt x="66" y="10"/>
                      <a:pt x="64" y="9"/>
                      <a:pt x="63" y="9"/>
                    </a:cubicBezTo>
                    <a:cubicBezTo>
                      <a:pt x="62" y="8"/>
                      <a:pt x="60" y="9"/>
                      <a:pt x="59" y="10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2" y="32"/>
                      <a:pt x="0" y="34"/>
                      <a:pt x="0" y="36"/>
                    </a:cubicBezTo>
                    <a:cubicBezTo>
                      <a:pt x="0" y="38"/>
                      <a:pt x="2" y="40"/>
                      <a:pt x="4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0021336-31BE-4B2A-833E-1614D3DCE5A6}"/>
                </a:ext>
              </a:extLst>
            </p:cNvPr>
            <p:cNvGrpSpPr/>
            <p:nvPr/>
          </p:nvGrpSpPr>
          <p:grpSpPr>
            <a:xfrm>
              <a:off x="7227399" y="4942443"/>
              <a:ext cx="342309" cy="271939"/>
              <a:chOff x="7216775" y="4897437"/>
              <a:chExt cx="455613" cy="361951"/>
            </a:xfrm>
            <a:solidFill>
              <a:schemeClr val="bg1"/>
            </a:solidFill>
            <a:effectLst/>
          </p:grpSpPr>
          <p:sp>
            <p:nvSpPr>
              <p:cNvPr id="37" name="Freeform 26" descr="This image is an icon of a human being. ">
                <a:extLst>
                  <a:ext uri="{FF2B5EF4-FFF2-40B4-BE49-F238E27FC236}">
                    <a16:creationId xmlns:a16="http://schemas.microsoft.com/office/drawing/2014/main" id="{4440B8F8-1462-45D4-814C-968A1CEA7A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1888" y="4953000"/>
                <a:ext cx="190500" cy="306388"/>
              </a:xfrm>
              <a:custGeom>
                <a:avLst/>
                <a:gdLst>
                  <a:gd name="T0" fmla="*/ 73 w 100"/>
                  <a:gd name="T1" fmla="*/ 97 h 161"/>
                  <a:gd name="T2" fmla="*/ 52 w 100"/>
                  <a:gd name="T3" fmla="*/ 90 h 161"/>
                  <a:gd name="T4" fmla="*/ 52 w 100"/>
                  <a:gd name="T5" fmla="*/ 80 h 161"/>
                  <a:gd name="T6" fmla="*/ 65 w 100"/>
                  <a:gd name="T7" fmla="*/ 59 h 161"/>
                  <a:gd name="T8" fmla="*/ 70 w 100"/>
                  <a:gd name="T9" fmla="*/ 45 h 161"/>
                  <a:gd name="T10" fmla="*/ 68 w 100"/>
                  <a:gd name="T11" fmla="*/ 37 h 161"/>
                  <a:gd name="T12" fmla="*/ 66 w 100"/>
                  <a:gd name="T13" fmla="*/ 34 h 161"/>
                  <a:gd name="T14" fmla="*/ 70 w 100"/>
                  <a:gd name="T15" fmla="*/ 15 h 161"/>
                  <a:gd name="T16" fmla="*/ 41 w 100"/>
                  <a:gd name="T17" fmla="*/ 0 h 161"/>
                  <a:gd name="T18" fmla="*/ 13 w 100"/>
                  <a:gd name="T19" fmla="*/ 11 h 161"/>
                  <a:gd name="T20" fmla="*/ 4 w 100"/>
                  <a:gd name="T21" fmla="*/ 15 h 161"/>
                  <a:gd name="T22" fmla="*/ 5 w 100"/>
                  <a:gd name="T23" fmla="*/ 34 h 161"/>
                  <a:gd name="T24" fmla="*/ 3 w 100"/>
                  <a:gd name="T25" fmla="*/ 37 h 161"/>
                  <a:gd name="T26" fmla="*/ 1 w 100"/>
                  <a:gd name="T27" fmla="*/ 45 h 161"/>
                  <a:gd name="T28" fmla="*/ 6 w 100"/>
                  <a:gd name="T29" fmla="*/ 59 h 161"/>
                  <a:gd name="T30" fmla="*/ 20 w 100"/>
                  <a:gd name="T31" fmla="*/ 80 h 161"/>
                  <a:gd name="T32" fmla="*/ 20 w 100"/>
                  <a:gd name="T33" fmla="*/ 90 h 161"/>
                  <a:gd name="T34" fmla="*/ 12 w 100"/>
                  <a:gd name="T35" fmla="*/ 93 h 161"/>
                  <a:gd name="T36" fmla="*/ 28 w 100"/>
                  <a:gd name="T37" fmla="*/ 113 h 161"/>
                  <a:gd name="T38" fmla="*/ 28 w 100"/>
                  <a:gd name="T39" fmla="*/ 161 h 161"/>
                  <a:gd name="T40" fmla="*/ 96 w 100"/>
                  <a:gd name="T41" fmla="*/ 161 h 161"/>
                  <a:gd name="T42" fmla="*/ 100 w 100"/>
                  <a:gd name="T43" fmla="*/ 157 h 161"/>
                  <a:gd name="T44" fmla="*/ 100 w 100"/>
                  <a:gd name="T45" fmla="*/ 112 h 161"/>
                  <a:gd name="T46" fmla="*/ 73 w 100"/>
                  <a:gd name="T47" fmla="*/ 97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00" h="161">
                    <a:moveTo>
                      <a:pt x="73" y="97"/>
                    </a:moveTo>
                    <a:cubicBezTo>
                      <a:pt x="67" y="95"/>
                      <a:pt x="59" y="93"/>
                      <a:pt x="52" y="90"/>
                    </a:cubicBezTo>
                    <a:cubicBezTo>
                      <a:pt x="52" y="80"/>
                      <a:pt x="52" y="80"/>
                      <a:pt x="52" y="80"/>
                    </a:cubicBezTo>
                    <a:cubicBezTo>
                      <a:pt x="56" y="77"/>
                      <a:pt x="64" y="72"/>
                      <a:pt x="65" y="59"/>
                    </a:cubicBezTo>
                    <a:cubicBezTo>
                      <a:pt x="68" y="56"/>
                      <a:pt x="70" y="51"/>
                      <a:pt x="70" y="45"/>
                    </a:cubicBezTo>
                    <a:cubicBezTo>
                      <a:pt x="70" y="43"/>
                      <a:pt x="69" y="40"/>
                      <a:pt x="68" y="37"/>
                    </a:cubicBezTo>
                    <a:cubicBezTo>
                      <a:pt x="68" y="36"/>
                      <a:pt x="67" y="35"/>
                      <a:pt x="66" y="34"/>
                    </a:cubicBezTo>
                    <a:cubicBezTo>
                      <a:pt x="69" y="30"/>
                      <a:pt x="72" y="22"/>
                      <a:pt x="70" y="15"/>
                    </a:cubicBezTo>
                    <a:cubicBezTo>
                      <a:pt x="66" y="4"/>
                      <a:pt x="52" y="0"/>
                      <a:pt x="41" y="0"/>
                    </a:cubicBezTo>
                    <a:cubicBezTo>
                      <a:pt x="30" y="0"/>
                      <a:pt x="18" y="3"/>
                      <a:pt x="13" y="11"/>
                    </a:cubicBezTo>
                    <a:cubicBezTo>
                      <a:pt x="8" y="11"/>
                      <a:pt x="5" y="13"/>
                      <a:pt x="4" y="15"/>
                    </a:cubicBezTo>
                    <a:cubicBezTo>
                      <a:pt x="0" y="20"/>
                      <a:pt x="3" y="28"/>
                      <a:pt x="5" y="34"/>
                    </a:cubicBezTo>
                    <a:cubicBezTo>
                      <a:pt x="4" y="34"/>
                      <a:pt x="3" y="36"/>
                      <a:pt x="3" y="37"/>
                    </a:cubicBezTo>
                    <a:cubicBezTo>
                      <a:pt x="1" y="39"/>
                      <a:pt x="1" y="43"/>
                      <a:pt x="1" y="45"/>
                    </a:cubicBezTo>
                    <a:cubicBezTo>
                      <a:pt x="1" y="51"/>
                      <a:pt x="3" y="56"/>
                      <a:pt x="6" y="59"/>
                    </a:cubicBezTo>
                    <a:cubicBezTo>
                      <a:pt x="7" y="71"/>
                      <a:pt x="14" y="77"/>
                      <a:pt x="20" y="80"/>
                    </a:cubicBezTo>
                    <a:cubicBezTo>
                      <a:pt x="20" y="90"/>
                      <a:pt x="20" y="90"/>
                      <a:pt x="20" y="90"/>
                    </a:cubicBezTo>
                    <a:cubicBezTo>
                      <a:pt x="17" y="91"/>
                      <a:pt x="14" y="92"/>
                      <a:pt x="12" y="93"/>
                    </a:cubicBezTo>
                    <a:cubicBezTo>
                      <a:pt x="22" y="101"/>
                      <a:pt x="28" y="107"/>
                      <a:pt x="28" y="113"/>
                    </a:cubicBezTo>
                    <a:cubicBezTo>
                      <a:pt x="28" y="161"/>
                      <a:pt x="28" y="161"/>
                      <a:pt x="28" y="161"/>
                    </a:cubicBezTo>
                    <a:cubicBezTo>
                      <a:pt x="96" y="161"/>
                      <a:pt x="96" y="161"/>
                      <a:pt x="96" y="161"/>
                    </a:cubicBezTo>
                    <a:cubicBezTo>
                      <a:pt x="98" y="161"/>
                      <a:pt x="100" y="159"/>
                      <a:pt x="100" y="157"/>
                    </a:cubicBezTo>
                    <a:cubicBezTo>
                      <a:pt x="100" y="112"/>
                      <a:pt x="100" y="112"/>
                      <a:pt x="100" y="112"/>
                    </a:cubicBezTo>
                    <a:cubicBezTo>
                      <a:pt x="100" y="106"/>
                      <a:pt x="92" y="103"/>
                      <a:pt x="73" y="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8" name="Freeform 27" descr="This image is an icon of a human being. ">
                <a:extLst>
                  <a:ext uri="{FF2B5EF4-FFF2-40B4-BE49-F238E27FC236}">
                    <a16:creationId xmlns:a16="http://schemas.microsoft.com/office/drawing/2014/main" id="{911400A2-7778-4011-A9EB-2140EFD1F6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16775" y="4897437"/>
                <a:ext cx="303213" cy="361951"/>
              </a:xfrm>
              <a:custGeom>
                <a:avLst/>
                <a:gdLst>
                  <a:gd name="T0" fmla="*/ 141 w 160"/>
                  <a:gd name="T1" fmla="*/ 125 h 190"/>
                  <a:gd name="T2" fmla="*/ 104 w 160"/>
                  <a:gd name="T3" fmla="*/ 107 h 190"/>
                  <a:gd name="T4" fmla="*/ 104 w 160"/>
                  <a:gd name="T5" fmla="*/ 94 h 190"/>
                  <a:gd name="T6" fmla="*/ 105 w 160"/>
                  <a:gd name="T7" fmla="*/ 91 h 190"/>
                  <a:gd name="T8" fmla="*/ 113 w 160"/>
                  <a:gd name="T9" fmla="*/ 76 h 190"/>
                  <a:gd name="T10" fmla="*/ 114 w 160"/>
                  <a:gd name="T11" fmla="*/ 72 h 190"/>
                  <a:gd name="T12" fmla="*/ 115 w 160"/>
                  <a:gd name="T13" fmla="*/ 67 h 190"/>
                  <a:gd name="T14" fmla="*/ 120 w 160"/>
                  <a:gd name="T15" fmla="*/ 59 h 190"/>
                  <a:gd name="T16" fmla="*/ 120 w 160"/>
                  <a:gd name="T17" fmla="*/ 58 h 190"/>
                  <a:gd name="T18" fmla="*/ 120 w 160"/>
                  <a:gd name="T19" fmla="*/ 56 h 190"/>
                  <a:gd name="T20" fmla="*/ 118 w 160"/>
                  <a:gd name="T21" fmla="*/ 45 h 190"/>
                  <a:gd name="T22" fmla="*/ 115 w 160"/>
                  <a:gd name="T23" fmla="*/ 42 h 190"/>
                  <a:gd name="T24" fmla="*/ 118 w 160"/>
                  <a:gd name="T25" fmla="*/ 34 h 190"/>
                  <a:gd name="T26" fmla="*/ 119 w 160"/>
                  <a:gd name="T27" fmla="*/ 29 h 190"/>
                  <a:gd name="T28" fmla="*/ 120 w 160"/>
                  <a:gd name="T29" fmla="*/ 24 h 190"/>
                  <a:gd name="T30" fmla="*/ 119 w 160"/>
                  <a:gd name="T31" fmla="*/ 19 h 190"/>
                  <a:gd name="T32" fmla="*/ 118 w 160"/>
                  <a:gd name="T33" fmla="*/ 15 h 190"/>
                  <a:gd name="T34" fmla="*/ 116 w 160"/>
                  <a:gd name="T35" fmla="*/ 13 h 190"/>
                  <a:gd name="T36" fmla="*/ 110 w 160"/>
                  <a:gd name="T37" fmla="*/ 7 h 190"/>
                  <a:gd name="T38" fmla="*/ 108 w 160"/>
                  <a:gd name="T39" fmla="*/ 6 h 190"/>
                  <a:gd name="T40" fmla="*/ 90 w 160"/>
                  <a:gd name="T41" fmla="*/ 1 h 190"/>
                  <a:gd name="T42" fmla="*/ 85 w 160"/>
                  <a:gd name="T43" fmla="*/ 0 h 190"/>
                  <a:gd name="T44" fmla="*/ 78 w 160"/>
                  <a:gd name="T45" fmla="*/ 1 h 190"/>
                  <a:gd name="T46" fmla="*/ 73 w 160"/>
                  <a:gd name="T47" fmla="*/ 2 h 190"/>
                  <a:gd name="T48" fmla="*/ 68 w 160"/>
                  <a:gd name="T49" fmla="*/ 3 h 190"/>
                  <a:gd name="T50" fmla="*/ 65 w 160"/>
                  <a:gd name="T51" fmla="*/ 4 h 190"/>
                  <a:gd name="T52" fmla="*/ 53 w 160"/>
                  <a:gd name="T53" fmla="*/ 13 h 190"/>
                  <a:gd name="T54" fmla="*/ 50 w 160"/>
                  <a:gd name="T55" fmla="*/ 15 h 190"/>
                  <a:gd name="T56" fmla="*/ 46 w 160"/>
                  <a:gd name="T57" fmla="*/ 16 h 190"/>
                  <a:gd name="T58" fmla="*/ 44 w 160"/>
                  <a:gd name="T59" fmla="*/ 17 h 190"/>
                  <a:gd name="T60" fmla="*/ 42 w 160"/>
                  <a:gd name="T61" fmla="*/ 18 h 190"/>
                  <a:gd name="T62" fmla="*/ 40 w 160"/>
                  <a:gd name="T63" fmla="*/ 22 h 190"/>
                  <a:gd name="T64" fmla="*/ 40 w 160"/>
                  <a:gd name="T65" fmla="*/ 24 h 190"/>
                  <a:gd name="T66" fmla="*/ 40 w 160"/>
                  <a:gd name="T67" fmla="*/ 27 h 190"/>
                  <a:gd name="T68" fmla="*/ 40 w 160"/>
                  <a:gd name="T69" fmla="*/ 30 h 190"/>
                  <a:gd name="T70" fmla="*/ 41 w 160"/>
                  <a:gd name="T71" fmla="*/ 33 h 190"/>
                  <a:gd name="T72" fmla="*/ 42 w 160"/>
                  <a:gd name="T73" fmla="*/ 36 h 190"/>
                  <a:gd name="T74" fmla="*/ 44 w 160"/>
                  <a:gd name="T75" fmla="*/ 42 h 190"/>
                  <a:gd name="T76" fmla="*/ 41 w 160"/>
                  <a:gd name="T77" fmla="*/ 45 h 190"/>
                  <a:gd name="T78" fmla="*/ 39 w 160"/>
                  <a:gd name="T79" fmla="*/ 56 h 190"/>
                  <a:gd name="T80" fmla="*/ 39 w 160"/>
                  <a:gd name="T81" fmla="*/ 58 h 190"/>
                  <a:gd name="T82" fmla="*/ 40 w 160"/>
                  <a:gd name="T83" fmla="*/ 59 h 190"/>
                  <a:gd name="T84" fmla="*/ 44 w 160"/>
                  <a:gd name="T85" fmla="*/ 67 h 190"/>
                  <a:gd name="T86" fmla="*/ 46 w 160"/>
                  <a:gd name="T87" fmla="*/ 72 h 190"/>
                  <a:gd name="T88" fmla="*/ 56 w 160"/>
                  <a:gd name="T89" fmla="*/ 92 h 190"/>
                  <a:gd name="T90" fmla="*/ 56 w 160"/>
                  <a:gd name="T91" fmla="*/ 105 h 190"/>
                  <a:gd name="T92" fmla="*/ 21 w 160"/>
                  <a:gd name="T93" fmla="*/ 124 h 190"/>
                  <a:gd name="T94" fmla="*/ 0 w 160"/>
                  <a:gd name="T95" fmla="*/ 142 h 190"/>
                  <a:gd name="T96" fmla="*/ 4 w 160"/>
                  <a:gd name="T97" fmla="*/ 190 h 190"/>
                  <a:gd name="T98" fmla="*/ 156 w 160"/>
                  <a:gd name="T99" fmla="*/ 190 h 190"/>
                  <a:gd name="T100" fmla="*/ 160 w 160"/>
                  <a:gd name="T101" fmla="*/ 186 h 190"/>
                  <a:gd name="T102" fmla="*/ 142 w 160"/>
                  <a:gd name="T103" fmla="*/ 125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0" h="190">
                    <a:moveTo>
                      <a:pt x="142" y="125"/>
                    </a:moveTo>
                    <a:cubicBezTo>
                      <a:pt x="141" y="125"/>
                      <a:pt x="141" y="125"/>
                      <a:pt x="141" y="125"/>
                    </a:cubicBezTo>
                    <a:cubicBezTo>
                      <a:pt x="141" y="125"/>
                      <a:pt x="140" y="125"/>
                      <a:pt x="139" y="124"/>
                    </a:cubicBezTo>
                    <a:cubicBezTo>
                      <a:pt x="129" y="118"/>
                      <a:pt x="116" y="112"/>
                      <a:pt x="104" y="107"/>
                    </a:cubicBezTo>
                    <a:cubicBezTo>
                      <a:pt x="104" y="105"/>
                      <a:pt x="104" y="105"/>
                      <a:pt x="104" y="105"/>
                    </a:cubicBezTo>
                    <a:cubicBezTo>
                      <a:pt x="104" y="94"/>
                      <a:pt x="104" y="94"/>
                      <a:pt x="104" y="94"/>
                    </a:cubicBezTo>
                    <a:cubicBezTo>
                      <a:pt x="104" y="92"/>
                      <a:pt x="104" y="92"/>
                      <a:pt x="104" y="92"/>
                    </a:cubicBezTo>
                    <a:cubicBezTo>
                      <a:pt x="104" y="92"/>
                      <a:pt x="105" y="92"/>
                      <a:pt x="105" y="91"/>
                    </a:cubicBezTo>
                    <a:cubicBezTo>
                      <a:pt x="105" y="91"/>
                      <a:pt x="105" y="91"/>
                      <a:pt x="105" y="91"/>
                    </a:cubicBezTo>
                    <a:cubicBezTo>
                      <a:pt x="108" y="89"/>
                      <a:pt x="111" y="84"/>
                      <a:pt x="113" y="76"/>
                    </a:cubicBezTo>
                    <a:cubicBezTo>
                      <a:pt x="113" y="75"/>
                      <a:pt x="113" y="74"/>
                      <a:pt x="113" y="74"/>
                    </a:cubicBezTo>
                    <a:cubicBezTo>
                      <a:pt x="113" y="73"/>
                      <a:pt x="113" y="72"/>
                      <a:pt x="114" y="72"/>
                    </a:cubicBezTo>
                    <a:cubicBezTo>
                      <a:pt x="114" y="71"/>
                      <a:pt x="114" y="69"/>
                      <a:pt x="114" y="68"/>
                    </a:cubicBezTo>
                    <a:cubicBezTo>
                      <a:pt x="114" y="68"/>
                      <a:pt x="115" y="67"/>
                      <a:pt x="115" y="67"/>
                    </a:cubicBezTo>
                    <a:cubicBezTo>
                      <a:pt x="115" y="67"/>
                      <a:pt x="115" y="67"/>
                      <a:pt x="115" y="67"/>
                    </a:cubicBezTo>
                    <a:cubicBezTo>
                      <a:pt x="117" y="65"/>
                      <a:pt x="119" y="63"/>
                      <a:pt x="120" y="59"/>
                    </a:cubicBezTo>
                    <a:cubicBezTo>
                      <a:pt x="120" y="59"/>
                      <a:pt x="120" y="59"/>
                      <a:pt x="120" y="59"/>
                    </a:cubicBezTo>
                    <a:cubicBezTo>
                      <a:pt x="120" y="59"/>
                      <a:pt x="120" y="58"/>
                      <a:pt x="120" y="58"/>
                    </a:cubicBezTo>
                    <a:cubicBezTo>
                      <a:pt x="120" y="57"/>
                      <a:pt x="120" y="57"/>
                      <a:pt x="120" y="57"/>
                    </a:cubicBezTo>
                    <a:cubicBezTo>
                      <a:pt x="120" y="56"/>
                      <a:pt x="120" y="56"/>
                      <a:pt x="120" y="56"/>
                    </a:cubicBezTo>
                    <a:cubicBezTo>
                      <a:pt x="120" y="55"/>
                      <a:pt x="120" y="54"/>
                      <a:pt x="120" y="53"/>
                    </a:cubicBezTo>
                    <a:cubicBezTo>
                      <a:pt x="120" y="50"/>
                      <a:pt x="120" y="47"/>
                      <a:pt x="118" y="45"/>
                    </a:cubicBezTo>
                    <a:cubicBezTo>
                      <a:pt x="118" y="45"/>
                      <a:pt x="118" y="45"/>
                      <a:pt x="118" y="45"/>
                    </a:cubicBezTo>
                    <a:cubicBezTo>
                      <a:pt x="118" y="44"/>
                      <a:pt x="117" y="43"/>
                      <a:pt x="115" y="42"/>
                    </a:cubicBezTo>
                    <a:cubicBezTo>
                      <a:pt x="116" y="41"/>
                      <a:pt x="116" y="41"/>
                      <a:pt x="117" y="40"/>
                    </a:cubicBezTo>
                    <a:cubicBezTo>
                      <a:pt x="117" y="38"/>
                      <a:pt x="118" y="36"/>
                      <a:pt x="118" y="34"/>
                    </a:cubicBezTo>
                    <a:cubicBezTo>
                      <a:pt x="118" y="34"/>
                      <a:pt x="118" y="34"/>
                      <a:pt x="118" y="34"/>
                    </a:cubicBezTo>
                    <a:cubicBezTo>
                      <a:pt x="119" y="32"/>
                      <a:pt x="119" y="30"/>
                      <a:pt x="119" y="29"/>
                    </a:cubicBezTo>
                    <a:cubicBezTo>
                      <a:pt x="119" y="29"/>
                      <a:pt x="119" y="29"/>
                      <a:pt x="119" y="29"/>
                    </a:cubicBezTo>
                    <a:cubicBezTo>
                      <a:pt x="120" y="27"/>
                      <a:pt x="120" y="26"/>
                      <a:pt x="120" y="24"/>
                    </a:cubicBezTo>
                    <a:cubicBezTo>
                      <a:pt x="120" y="24"/>
                      <a:pt x="120" y="23"/>
                      <a:pt x="120" y="23"/>
                    </a:cubicBezTo>
                    <a:cubicBezTo>
                      <a:pt x="119" y="22"/>
                      <a:pt x="119" y="20"/>
                      <a:pt x="119" y="19"/>
                    </a:cubicBezTo>
                    <a:cubicBezTo>
                      <a:pt x="119" y="18"/>
                      <a:pt x="118" y="17"/>
                      <a:pt x="118" y="16"/>
                    </a:cubicBezTo>
                    <a:cubicBezTo>
                      <a:pt x="118" y="16"/>
                      <a:pt x="118" y="16"/>
                      <a:pt x="118" y="15"/>
                    </a:cubicBezTo>
                    <a:cubicBezTo>
                      <a:pt x="117" y="15"/>
                      <a:pt x="117" y="15"/>
                      <a:pt x="117" y="15"/>
                    </a:cubicBezTo>
                    <a:cubicBezTo>
                      <a:pt x="117" y="14"/>
                      <a:pt x="117" y="13"/>
                      <a:pt x="116" y="13"/>
                    </a:cubicBezTo>
                    <a:cubicBezTo>
                      <a:pt x="116" y="13"/>
                      <a:pt x="116" y="13"/>
                      <a:pt x="116" y="13"/>
                    </a:cubicBezTo>
                    <a:cubicBezTo>
                      <a:pt x="115" y="10"/>
                      <a:pt x="112" y="8"/>
                      <a:pt x="110" y="7"/>
                    </a:cubicBezTo>
                    <a:cubicBezTo>
                      <a:pt x="110" y="7"/>
                      <a:pt x="110" y="7"/>
                      <a:pt x="110" y="7"/>
                    </a:cubicBezTo>
                    <a:cubicBezTo>
                      <a:pt x="109" y="6"/>
                      <a:pt x="108" y="6"/>
                      <a:pt x="108" y="6"/>
                    </a:cubicBezTo>
                    <a:cubicBezTo>
                      <a:pt x="102" y="3"/>
                      <a:pt x="96" y="1"/>
                      <a:pt x="90" y="1"/>
                    </a:cubicBezTo>
                    <a:cubicBezTo>
                      <a:pt x="90" y="1"/>
                      <a:pt x="90" y="1"/>
                      <a:pt x="90" y="1"/>
                    </a:cubicBezTo>
                    <a:cubicBezTo>
                      <a:pt x="89" y="1"/>
                      <a:pt x="88" y="1"/>
                      <a:pt x="87" y="1"/>
                    </a:cubicBezTo>
                    <a:cubicBezTo>
                      <a:pt x="87" y="0"/>
                      <a:pt x="86" y="0"/>
                      <a:pt x="85" y="0"/>
                    </a:cubicBezTo>
                    <a:cubicBezTo>
                      <a:pt x="83" y="0"/>
                      <a:pt x="81" y="1"/>
                      <a:pt x="80" y="1"/>
                    </a:cubicBezTo>
                    <a:cubicBezTo>
                      <a:pt x="79" y="1"/>
                      <a:pt x="79" y="1"/>
                      <a:pt x="78" y="1"/>
                    </a:cubicBezTo>
                    <a:cubicBezTo>
                      <a:pt x="77" y="1"/>
                      <a:pt x="76" y="1"/>
                      <a:pt x="76" y="1"/>
                    </a:cubicBezTo>
                    <a:cubicBezTo>
                      <a:pt x="75" y="1"/>
                      <a:pt x="74" y="1"/>
                      <a:pt x="73" y="2"/>
                    </a:cubicBezTo>
                    <a:cubicBezTo>
                      <a:pt x="72" y="2"/>
                      <a:pt x="72" y="2"/>
                      <a:pt x="71" y="2"/>
                    </a:cubicBezTo>
                    <a:cubicBezTo>
                      <a:pt x="70" y="2"/>
                      <a:pt x="69" y="2"/>
                      <a:pt x="68" y="3"/>
                    </a:cubicBezTo>
                    <a:cubicBezTo>
                      <a:pt x="68" y="3"/>
                      <a:pt x="67" y="3"/>
                      <a:pt x="66" y="4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0" y="6"/>
                      <a:pt x="55" y="9"/>
                      <a:pt x="53" y="13"/>
                    </a:cubicBezTo>
                    <a:cubicBezTo>
                      <a:pt x="53" y="13"/>
                      <a:pt x="53" y="13"/>
                      <a:pt x="53" y="13"/>
                    </a:cubicBezTo>
                    <a:cubicBezTo>
                      <a:pt x="52" y="14"/>
                      <a:pt x="52" y="15"/>
                      <a:pt x="52" y="15"/>
                    </a:cubicBezTo>
                    <a:cubicBezTo>
                      <a:pt x="51" y="15"/>
                      <a:pt x="50" y="15"/>
                      <a:pt x="50" y="15"/>
                    </a:cubicBezTo>
                    <a:cubicBezTo>
                      <a:pt x="49" y="15"/>
                      <a:pt x="48" y="15"/>
                      <a:pt x="47" y="15"/>
                    </a:cubicBezTo>
                    <a:cubicBezTo>
                      <a:pt x="47" y="16"/>
                      <a:pt x="46" y="16"/>
                      <a:pt x="46" y="16"/>
                    </a:cubicBezTo>
                    <a:cubicBezTo>
                      <a:pt x="46" y="16"/>
                      <a:pt x="45" y="16"/>
                      <a:pt x="44" y="16"/>
                    </a:cubicBezTo>
                    <a:cubicBezTo>
                      <a:pt x="44" y="17"/>
                      <a:pt x="44" y="17"/>
                      <a:pt x="44" y="17"/>
                    </a:cubicBezTo>
                    <a:cubicBezTo>
                      <a:pt x="43" y="17"/>
                      <a:pt x="43" y="17"/>
                      <a:pt x="42" y="18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42" y="19"/>
                      <a:pt x="41" y="19"/>
                      <a:pt x="41" y="19"/>
                    </a:cubicBezTo>
                    <a:cubicBezTo>
                      <a:pt x="41" y="20"/>
                      <a:pt x="40" y="21"/>
                      <a:pt x="40" y="22"/>
                    </a:cubicBezTo>
                    <a:cubicBezTo>
                      <a:pt x="40" y="22"/>
                      <a:pt x="40" y="22"/>
                      <a:pt x="40" y="22"/>
                    </a:cubicBezTo>
                    <a:cubicBezTo>
                      <a:pt x="40" y="23"/>
                      <a:pt x="40" y="24"/>
                      <a:pt x="40" y="24"/>
                    </a:cubicBezTo>
                    <a:cubicBezTo>
                      <a:pt x="40" y="25"/>
                      <a:pt x="40" y="25"/>
                      <a:pt x="40" y="25"/>
                    </a:cubicBezTo>
                    <a:cubicBezTo>
                      <a:pt x="40" y="26"/>
                      <a:pt x="40" y="26"/>
                      <a:pt x="40" y="27"/>
                    </a:cubicBezTo>
                    <a:cubicBezTo>
                      <a:pt x="40" y="27"/>
                      <a:pt x="40" y="28"/>
                      <a:pt x="40" y="28"/>
                    </a:cubicBezTo>
                    <a:cubicBezTo>
                      <a:pt x="40" y="29"/>
                      <a:pt x="40" y="29"/>
                      <a:pt x="40" y="30"/>
                    </a:cubicBezTo>
                    <a:cubicBezTo>
                      <a:pt x="40" y="30"/>
                      <a:pt x="40" y="31"/>
                      <a:pt x="40" y="31"/>
                    </a:cubicBezTo>
                    <a:cubicBezTo>
                      <a:pt x="40" y="32"/>
                      <a:pt x="41" y="32"/>
                      <a:pt x="41" y="33"/>
                    </a:cubicBezTo>
                    <a:cubicBezTo>
                      <a:pt x="41" y="33"/>
                      <a:pt x="41" y="34"/>
                      <a:pt x="41" y="34"/>
                    </a:cubicBezTo>
                    <a:cubicBezTo>
                      <a:pt x="41" y="35"/>
                      <a:pt x="42" y="35"/>
                      <a:pt x="42" y="36"/>
                    </a:cubicBezTo>
                    <a:cubicBezTo>
                      <a:pt x="42" y="36"/>
                      <a:pt x="42" y="37"/>
                      <a:pt x="42" y="37"/>
                    </a:cubicBezTo>
                    <a:cubicBezTo>
                      <a:pt x="43" y="39"/>
                      <a:pt x="43" y="41"/>
                      <a:pt x="44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3" y="43"/>
                      <a:pt x="42" y="44"/>
                      <a:pt x="41" y="45"/>
                    </a:cubicBezTo>
                    <a:cubicBezTo>
                      <a:pt x="40" y="47"/>
                      <a:pt x="39" y="50"/>
                      <a:pt x="39" y="54"/>
                    </a:cubicBezTo>
                    <a:cubicBezTo>
                      <a:pt x="39" y="54"/>
                      <a:pt x="39" y="55"/>
                      <a:pt x="39" y="56"/>
                    </a:cubicBezTo>
                    <a:cubicBezTo>
                      <a:pt x="39" y="56"/>
                      <a:pt x="39" y="56"/>
                      <a:pt x="39" y="57"/>
                    </a:cubicBezTo>
                    <a:cubicBezTo>
                      <a:pt x="39" y="57"/>
                      <a:pt x="39" y="57"/>
                      <a:pt x="39" y="58"/>
                    </a:cubicBezTo>
                    <a:cubicBezTo>
                      <a:pt x="39" y="58"/>
                      <a:pt x="40" y="59"/>
                      <a:pt x="40" y="59"/>
                    </a:cubicBezTo>
                    <a:cubicBezTo>
                      <a:pt x="40" y="59"/>
                      <a:pt x="40" y="59"/>
                      <a:pt x="40" y="59"/>
                    </a:cubicBezTo>
                    <a:cubicBezTo>
                      <a:pt x="41" y="63"/>
                      <a:pt x="42" y="65"/>
                      <a:pt x="44" y="67"/>
                    </a:cubicBezTo>
                    <a:cubicBezTo>
                      <a:pt x="44" y="67"/>
                      <a:pt x="44" y="67"/>
                      <a:pt x="44" y="67"/>
                    </a:cubicBezTo>
                    <a:cubicBezTo>
                      <a:pt x="45" y="67"/>
                      <a:pt x="45" y="68"/>
                      <a:pt x="45" y="68"/>
                    </a:cubicBezTo>
                    <a:cubicBezTo>
                      <a:pt x="46" y="70"/>
                      <a:pt x="46" y="71"/>
                      <a:pt x="46" y="72"/>
                    </a:cubicBezTo>
                    <a:cubicBezTo>
                      <a:pt x="46" y="73"/>
                      <a:pt x="46" y="73"/>
                      <a:pt x="46" y="74"/>
                    </a:cubicBezTo>
                    <a:cubicBezTo>
                      <a:pt x="48" y="85"/>
                      <a:pt x="53" y="90"/>
                      <a:pt x="56" y="92"/>
                    </a:cubicBezTo>
                    <a:cubicBezTo>
                      <a:pt x="56" y="94"/>
                      <a:pt x="56" y="94"/>
                      <a:pt x="56" y="94"/>
                    </a:cubicBezTo>
                    <a:cubicBezTo>
                      <a:pt x="56" y="105"/>
                      <a:pt x="56" y="105"/>
                      <a:pt x="56" y="105"/>
                    </a:cubicBezTo>
                    <a:cubicBezTo>
                      <a:pt x="56" y="107"/>
                      <a:pt x="56" y="107"/>
                      <a:pt x="56" y="107"/>
                    </a:cubicBezTo>
                    <a:cubicBezTo>
                      <a:pt x="44" y="112"/>
                      <a:pt x="31" y="118"/>
                      <a:pt x="21" y="124"/>
                    </a:cubicBezTo>
                    <a:cubicBezTo>
                      <a:pt x="17" y="127"/>
                      <a:pt x="14" y="128"/>
                      <a:pt x="11" y="130"/>
                    </a:cubicBezTo>
                    <a:cubicBezTo>
                      <a:pt x="4" y="135"/>
                      <a:pt x="0" y="139"/>
                      <a:pt x="0" y="142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0" y="188"/>
                      <a:pt x="2" y="190"/>
                      <a:pt x="4" y="190"/>
                    </a:cubicBezTo>
                    <a:cubicBezTo>
                      <a:pt x="116" y="190"/>
                      <a:pt x="116" y="190"/>
                      <a:pt x="116" y="190"/>
                    </a:cubicBezTo>
                    <a:cubicBezTo>
                      <a:pt x="156" y="190"/>
                      <a:pt x="156" y="190"/>
                      <a:pt x="156" y="190"/>
                    </a:cubicBezTo>
                    <a:cubicBezTo>
                      <a:pt x="160" y="190"/>
                      <a:pt x="160" y="190"/>
                      <a:pt x="160" y="190"/>
                    </a:cubicBezTo>
                    <a:cubicBezTo>
                      <a:pt x="160" y="186"/>
                      <a:pt x="160" y="186"/>
                      <a:pt x="160" y="186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39"/>
                      <a:pt x="154" y="133"/>
                      <a:pt x="142" y="1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grpSp>
        <p:nvGrpSpPr>
          <p:cNvPr id="53" name="Group 52" descr="This image is an icon of binoculars. ">
            <a:extLst>
              <a:ext uri="{FF2B5EF4-FFF2-40B4-BE49-F238E27FC236}">
                <a16:creationId xmlns:a16="http://schemas.microsoft.com/office/drawing/2014/main" id="{7AA411C8-A30F-4E87-8335-8474FCDB2DB9}"/>
              </a:ext>
            </a:extLst>
          </p:cNvPr>
          <p:cNvGrpSpPr/>
          <p:nvPr/>
        </p:nvGrpSpPr>
        <p:grpSpPr>
          <a:xfrm>
            <a:off x="5693949" y="3516433"/>
            <a:ext cx="804102" cy="746032"/>
            <a:chOff x="9879013" y="2500313"/>
            <a:chExt cx="285750" cy="265113"/>
          </a:xfrm>
          <a:solidFill>
            <a:schemeClr val="bg2">
              <a:lumMod val="90000"/>
            </a:schemeClr>
          </a:solidFill>
        </p:grpSpPr>
        <p:sp>
          <p:nvSpPr>
            <p:cNvPr id="54" name="Freeform 3859">
              <a:extLst>
                <a:ext uri="{FF2B5EF4-FFF2-40B4-BE49-F238E27FC236}">
                  <a16:creationId xmlns:a16="http://schemas.microsoft.com/office/drawing/2014/main" id="{5609F4E5-2960-4AFA-A9AD-3C7EBEFE8B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31413" y="2500313"/>
              <a:ext cx="133350" cy="265113"/>
            </a:xfrm>
            <a:custGeom>
              <a:avLst/>
              <a:gdLst>
                <a:gd name="T0" fmla="*/ 156 w 420"/>
                <a:gd name="T1" fmla="*/ 795 h 832"/>
                <a:gd name="T2" fmla="*/ 95 w 420"/>
                <a:gd name="T3" fmla="*/ 761 h 832"/>
                <a:gd name="T4" fmla="*/ 51 w 420"/>
                <a:gd name="T5" fmla="*/ 708 h 832"/>
                <a:gd name="T6" fmla="*/ 31 w 420"/>
                <a:gd name="T7" fmla="*/ 640 h 832"/>
                <a:gd name="T8" fmla="*/ 38 w 420"/>
                <a:gd name="T9" fmla="*/ 576 h 832"/>
                <a:gd name="T10" fmla="*/ 73 w 420"/>
                <a:gd name="T11" fmla="*/ 517 h 832"/>
                <a:gd name="T12" fmla="*/ 128 w 420"/>
                <a:gd name="T13" fmla="*/ 469 h 832"/>
                <a:gd name="T14" fmla="*/ 186 w 420"/>
                <a:gd name="T15" fmla="*/ 446 h 832"/>
                <a:gd name="T16" fmla="*/ 224 w 420"/>
                <a:gd name="T17" fmla="*/ 444 h 832"/>
                <a:gd name="T18" fmla="*/ 263 w 420"/>
                <a:gd name="T19" fmla="*/ 451 h 832"/>
                <a:gd name="T20" fmla="*/ 300 w 420"/>
                <a:gd name="T21" fmla="*/ 470 h 832"/>
                <a:gd name="T22" fmla="*/ 344 w 420"/>
                <a:gd name="T23" fmla="*/ 505 h 832"/>
                <a:gd name="T24" fmla="*/ 378 w 420"/>
                <a:gd name="T25" fmla="*/ 556 h 832"/>
                <a:gd name="T26" fmla="*/ 390 w 420"/>
                <a:gd name="T27" fmla="*/ 609 h 832"/>
                <a:gd name="T28" fmla="*/ 383 w 420"/>
                <a:gd name="T29" fmla="*/ 676 h 832"/>
                <a:gd name="T30" fmla="*/ 350 w 420"/>
                <a:gd name="T31" fmla="*/ 737 h 832"/>
                <a:gd name="T32" fmla="*/ 296 w 420"/>
                <a:gd name="T33" fmla="*/ 781 h 832"/>
                <a:gd name="T34" fmla="*/ 228 w 420"/>
                <a:gd name="T35" fmla="*/ 802 h 832"/>
                <a:gd name="T36" fmla="*/ 388 w 420"/>
                <a:gd name="T37" fmla="*/ 508 h 832"/>
                <a:gd name="T38" fmla="*/ 208 w 420"/>
                <a:gd name="T39" fmla="*/ 178 h 832"/>
                <a:gd name="T40" fmla="*/ 145 w 420"/>
                <a:gd name="T41" fmla="*/ 20 h 832"/>
                <a:gd name="T42" fmla="*/ 109 w 420"/>
                <a:gd name="T43" fmla="*/ 4 h 832"/>
                <a:gd name="T44" fmla="*/ 66 w 420"/>
                <a:gd name="T45" fmla="*/ 0 h 832"/>
                <a:gd name="T46" fmla="*/ 27 w 420"/>
                <a:gd name="T47" fmla="*/ 11 h 832"/>
                <a:gd name="T48" fmla="*/ 2 w 420"/>
                <a:gd name="T49" fmla="*/ 28 h 832"/>
                <a:gd name="T50" fmla="*/ 0 w 420"/>
                <a:gd name="T51" fmla="*/ 263 h 832"/>
                <a:gd name="T52" fmla="*/ 55 w 420"/>
                <a:gd name="T53" fmla="*/ 273 h 832"/>
                <a:gd name="T54" fmla="*/ 97 w 420"/>
                <a:gd name="T55" fmla="*/ 293 h 832"/>
                <a:gd name="T56" fmla="*/ 125 w 420"/>
                <a:gd name="T57" fmla="*/ 320 h 832"/>
                <a:gd name="T58" fmla="*/ 135 w 420"/>
                <a:gd name="T59" fmla="*/ 352 h 832"/>
                <a:gd name="T60" fmla="*/ 131 w 420"/>
                <a:gd name="T61" fmla="*/ 362 h 832"/>
                <a:gd name="T62" fmla="*/ 120 w 420"/>
                <a:gd name="T63" fmla="*/ 367 h 832"/>
                <a:gd name="T64" fmla="*/ 109 w 420"/>
                <a:gd name="T65" fmla="*/ 362 h 832"/>
                <a:gd name="T66" fmla="*/ 105 w 420"/>
                <a:gd name="T67" fmla="*/ 352 h 832"/>
                <a:gd name="T68" fmla="*/ 97 w 420"/>
                <a:gd name="T69" fmla="*/ 333 h 832"/>
                <a:gd name="T70" fmla="*/ 76 w 420"/>
                <a:gd name="T71" fmla="*/ 315 h 832"/>
                <a:gd name="T72" fmla="*/ 0 w 420"/>
                <a:gd name="T73" fmla="*/ 293 h 832"/>
                <a:gd name="T74" fmla="*/ 2 w 420"/>
                <a:gd name="T75" fmla="*/ 648 h 832"/>
                <a:gd name="T76" fmla="*/ 27 w 420"/>
                <a:gd name="T77" fmla="*/ 725 h 832"/>
                <a:gd name="T78" fmla="*/ 78 w 420"/>
                <a:gd name="T79" fmla="*/ 786 h 832"/>
                <a:gd name="T80" fmla="*/ 149 w 420"/>
                <a:gd name="T81" fmla="*/ 823 h 832"/>
                <a:gd name="T82" fmla="*/ 221 w 420"/>
                <a:gd name="T83" fmla="*/ 832 h 832"/>
                <a:gd name="T84" fmla="*/ 272 w 420"/>
                <a:gd name="T85" fmla="*/ 823 h 832"/>
                <a:gd name="T86" fmla="*/ 344 w 420"/>
                <a:gd name="T87" fmla="*/ 785 h 832"/>
                <a:gd name="T88" fmla="*/ 396 w 420"/>
                <a:gd name="T89" fmla="*/ 723 h 832"/>
                <a:gd name="T90" fmla="*/ 418 w 420"/>
                <a:gd name="T91" fmla="*/ 654 h 832"/>
                <a:gd name="T92" fmla="*/ 420 w 420"/>
                <a:gd name="T93" fmla="*/ 608 h 832"/>
                <a:gd name="T94" fmla="*/ 408 w 420"/>
                <a:gd name="T95" fmla="*/ 552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420" h="832">
                  <a:moveTo>
                    <a:pt x="210" y="802"/>
                  </a:moveTo>
                  <a:lnTo>
                    <a:pt x="192" y="802"/>
                  </a:lnTo>
                  <a:lnTo>
                    <a:pt x="174" y="799"/>
                  </a:lnTo>
                  <a:lnTo>
                    <a:pt x="156" y="795"/>
                  </a:lnTo>
                  <a:lnTo>
                    <a:pt x="140" y="788"/>
                  </a:lnTo>
                  <a:lnTo>
                    <a:pt x="124" y="781"/>
                  </a:lnTo>
                  <a:lnTo>
                    <a:pt x="109" y="772"/>
                  </a:lnTo>
                  <a:lnTo>
                    <a:pt x="95" y="761"/>
                  </a:lnTo>
                  <a:lnTo>
                    <a:pt x="82" y="749"/>
                  </a:lnTo>
                  <a:lnTo>
                    <a:pt x="71" y="737"/>
                  </a:lnTo>
                  <a:lnTo>
                    <a:pt x="61" y="723"/>
                  </a:lnTo>
                  <a:lnTo>
                    <a:pt x="51" y="708"/>
                  </a:lnTo>
                  <a:lnTo>
                    <a:pt x="44" y="693"/>
                  </a:lnTo>
                  <a:lnTo>
                    <a:pt x="38" y="676"/>
                  </a:lnTo>
                  <a:lnTo>
                    <a:pt x="33" y="658"/>
                  </a:lnTo>
                  <a:lnTo>
                    <a:pt x="31" y="640"/>
                  </a:lnTo>
                  <a:lnTo>
                    <a:pt x="30" y="622"/>
                  </a:lnTo>
                  <a:lnTo>
                    <a:pt x="31" y="607"/>
                  </a:lnTo>
                  <a:lnTo>
                    <a:pt x="34" y="592"/>
                  </a:lnTo>
                  <a:lnTo>
                    <a:pt x="38" y="576"/>
                  </a:lnTo>
                  <a:lnTo>
                    <a:pt x="45" y="561"/>
                  </a:lnTo>
                  <a:lnTo>
                    <a:pt x="52" y="546"/>
                  </a:lnTo>
                  <a:lnTo>
                    <a:pt x="62" y="531"/>
                  </a:lnTo>
                  <a:lnTo>
                    <a:pt x="73" y="517"/>
                  </a:lnTo>
                  <a:lnTo>
                    <a:pt x="85" y="503"/>
                  </a:lnTo>
                  <a:lnTo>
                    <a:pt x="97" y="490"/>
                  </a:lnTo>
                  <a:lnTo>
                    <a:pt x="112" y="479"/>
                  </a:lnTo>
                  <a:lnTo>
                    <a:pt x="128" y="469"/>
                  </a:lnTo>
                  <a:lnTo>
                    <a:pt x="144" y="460"/>
                  </a:lnTo>
                  <a:lnTo>
                    <a:pt x="161" y="454"/>
                  </a:lnTo>
                  <a:lnTo>
                    <a:pt x="178" y="448"/>
                  </a:lnTo>
                  <a:lnTo>
                    <a:pt x="186" y="446"/>
                  </a:lnTo>
                  <a:lnTo>
                    <a:pt x="196" y="445"/>
                  </a:lnTo>
                  <a:lnTo>
                    <a:pt x="205" y="444"/>
                  </a:lnTo>
                  <a:lnTo>
                    <a:pt x="214" y="444"/>
                  </a:lnTo>
                  <a:lnTo>
                    <a:pt x="224" y="444"/>
                  </a:lnTo>
                  <a:lnTo>
                    <a:pt x="234" y="445"/>
                  </a:lnTo>
                  <a:lnTo>
                    <a:pt x="243" y="447"/>
                  </a:lnTo>
                  <a:lnTo>
                    <a:pt x="253" y="449"/>
                  </a:lnTo>
                  <a:lnTo>
                    <a:pt x="263" y="451"/>
                  </a:lnTo>
                  <a:lnTo>
                    <a:pt x="272" y="456"/>
                  </a:lnTo>
                  <a:lnTo>
                    <a:pt x="281" y="459"/>
                  </a:lnTo>
                  <a:lnTo>
                    <a:pt x="291" y="464"/>
                  </a:lnTo>
                  <a:lnTo>
                    <a:pt x="300" y="470"/>
                  </a:lnTo>
                  <a:lnTo>
                    <a:pt x="309" y="475"/>
                  </a:lnTo>
                  <a:lnTo>
                    <a:pt x="317" y="481"/>
                  </a:lnTo>
                  <a:lnTo>
                    <a:pt x="327" y="489"/>
                  </a:lnTo>
                  <a:lnTo>
                    <a:pt x="344" y="505"/>
                  </a:lnTo>
                  <a:lnTo>
                    <a:pt x="360" y="522"/>
                  </a:lnTo>
                  <a:lnTo>
                    <a:pt x="367" y="534"/>
                  </a:lnTo>
                  <a:lnTo>
                    <a:pt x="373" y="545"/>
                  </a:lnTo>
                  <a:lnTo>
                    <a:pt x="378" y="556"/>
                  </a:lnTo>
                  <a:lnTo>
                    <a:pt x="383" y="569"/>
                  </a:lnTo>
                  <a:lnTo>
                    <a:pt x="386" y="582"/>
                  </a:lnTo>
                  <a:lnTo>
                    <a:pt x="388" y="595"/>
                  </a:lnTo>
                  <a:lnTo>
                    <a:pt x="390" y="609"/>
                  </a:lnTo>
                  <a:lnTo>
                    <a:pt x="390" y="622"/>
                  </a:lnTo>
                  <a:lnTo>
                    <a:pt x="389" y="640"/>
                  </a:lnTo>
                  <a:lnTo>
                    <a:pt x="387" y="658"/>
                  </a:lnTo>
                  <a:lnTo>
                    <a:pt x="383" y="676"/>
                  </a:lnTo>
                  <a:lnTo>
                    <a:pt x="376" y="693"/>
                  </a:lnTo>
                  <a:lnTo>
                    <a:pt x="369" y="708"/>
                  </a:lnTo>
                  <a:lnTo>
                    <a:pt x="359" y="723"/>
                  </a:lnTo>
                  <a:lnTo>
                    <a:pt x="350" y="737"/>
                  </a:lnTo>
                  <a:lnTo>
                    <a:pt x="338" y="749"/>
                  </a:lnTo>
                  <a:lnTo>
                    <a:pt x="325" y="761"/>
                  </a:lnTo>
                  <a:lnTo>
                    <a:pt x="311" y="772"/>
                  </a:lnTo>
                  <a:lnTo>
                    <a:pt x="296" y="781"/>
                  </a:lnTo>
                  <a:lnTo>
                    <a:pt x="280" y="788"/>
                  </a:lnTo>
                  <a:lnTo>
                    <a:pt x="264" y="795"/>
                  </a:lnTo>
                  <a:lnTo>
                    <a:pt x="247" y="799"/>
                  </a:lnTo>
                  <a:lnTo>
                    <a:pt x="228" y="802"/>
                  </a:lnTo>
                  <a:lnTo>
                    <a:pt x="210" y="802"/>
                  </a:lnTo>
                  <a:close/>
                  <a:moveTo>
                    <a:pt x="390" y="515"/>
                  </a:moveTo>
                  <a:lnTo>
                    <a:pt x="389" y="511"/>
                  </a:lnTo>
                  <a:lnTo>
                    <a:pt x="388" y="508"/>
                  </a:lnTo>
                  <a:lnTo>
                    <a:pt x="269" y="240"/>
                  </a:lnTo>
                  <a:lnTo>
                    <a:pt x="268" y="238"/>
                  </a:lnTo>
                  <a:lnTo>
                    <a:pt x="266" y="236"/>
                  </a:lnTo>
                  <a:lnTo>
                    <a:pt x="208" y="178"/>
                  </a:lnTo>
                  <a:lnTo>
                    <a:pt x="154" y="31"/>
                  </a:lnTo>
                  <a:lnTo>
                    <a:pt x="153" y="28"/>
                  </a:lnTo>
                  <a:lnTo>
                    <a:pt x="151" y="26"/>
                  </a:lnTo>
                  <a:lnTo>
                    <a:pt x="145" y="20"/>
                  </a:lnTo>
                  <a:lnTo>
                    <a:pt x="137" y="15"/>
                  </a:lnTo>
                  <a:lnTo>
                    <a:pt x="129" y="11"/>
                  </a:lnTo>
                  <a:lnTo>
                    <a:pt x="119" y="6"/>
                  </a:lnTo>
                  <a:lnTo>
                    <a:pt x="109" y="4"/>
                  </a:lnTo>
                  <a:lnTo>
                    <a:pt x="100" y="2"/>
                  </a:lnTo>
                  <a:lnTo>
                    <a:pt x="89" y="0"/>
                  </a:lnTo>
                  <a:lnTo>
                    <a:pt x="77" y="0"/>
                  </a:lnTo>
                  <a:lnTo>
                    <a:pt x="66" y="0"/>
                  </a:lnTo>
                  <a:lnTo>
                    <a:pt x="56" y="2"/>
                  </a:lnTo>
                  <a:lnTo>
                    <a:pt x="45" y="4"/>
                  </a:lnTo>
                  <a:lnTo>
                    <a:pt x="35" y="6"/>
                  </a:lnTo>
                  <a:lnTo>
                    <a:pt x="27" y="11"/>
                  </a:lnTo>
                  <a:lnTo>
                    <a:pt x="18" y="15"/>
                  </a:lnTo>
                  <a:lnTo>
                    <a:pt x="11" y="20"/>
                  </a:lnTo>
                  <a:lnTo>
                    <a:pt x="4" y="26"/>
                  </a:lnTo>
                  <a:lnTo>
                    <a:pt x="2" y="28"/>
                  </a:lnTo>
                  <a:lnTo>
                    <a:pt x="1" y="31"/>
                  </a:lnTo>
                  <a:lnTo>
                    <a:pt x="0" y="33"/>
                  </a:lnTo>
                  <a:lnTo>
                    <a:pt x="0" y="36"/>
                  </a:lnTo>
                  <a:lnTo>
                    <a:pt x="0" y="263"/>
                  </a:lnTo>
                  <a:lnTo>
                    <a:pt x="14" y="265"/>
                  </a:lnTo>
                  <a:lnTo>
                    <a:pt x="28" y="267"/>
                  </a:lnTo>
                  <a:lnTo>
                    <a:pt x="42" y="270"/>
                  </a:lnTo>
                  <a:lnTo>
                    <a:pt x="55" y="273"/>
                  </a:lnTo>
                  <a:lnTo>
                    <a:pt x="66" y="278"/>
                  </a:lnTo>
                  <a:lnTo>
                    <a:pt x="77" y="282"/>
                  </a:lnTo>
                  <a:lnTo>
                    <a:pt x="88" y="287"/>
                  </a:lnTo>
                  <a:lnTo>
                    <a:pt x="97" y="293"/>
                  </a:lnTo>
                  <a:lnTo>
                    <a:pt x="106" y="299"/>
                  </a:lnTo>
                  <a:lnTo>
                    <a:pt x="114" y="306"/>
                  </a:lnTo>
                  <a:lnTo>
                    <a:pt x="120" y="312"/>
                  </a:lnTo>
                  <a:lnTo>
                    <a:pt x="125" y="320"/>
                  </a:lnTo>
                  <a:lnTo>
                    <a:pt x="130" y="327"/>
                  </a:lnTo>
                  <a:lnTo>
                    <a:pt x="133" y="336"/>
                  </a:lnTo>
                  <a:lnTo>
                    <a:pt x="134" y="343"/>
                  </a:lnTo>
                  <a:lnTo>
                    <a:pt x="135" y="352"/>
                  </a:lnTo>
                  <a:lnTo>
                    <a:pt x="135" y="355"/>
                  </a:lnTo>
                  <a:lnTo>
                    <a:pt x="134" y="358"/>
                  </a:lnTo>
                  <a:lnTo>
                    <a:pt x="133" y="360"/>
                  </a:lnTo>
                  <a:lnTo>
                    <a:pt x="131" y="362"/>
                  </a:lnTo>
                  <a:lnTo>
                    <a:pt x="129" y="365"/>
                  </a:lnTo>
                  <a:lnTo>
                    <a:pt x="125" y="366"/>
                  </a:lnTo>
                  <a:lnTo>
                    <a:pt x="123" y="367"/>
                  </a:lnTo>
                  <a:lnTo>
                    <a:pt x="120" y="367"/>
                  </a:lnTo>
                  <a:lnTo>
                    <a:pt x="117" y="367"/>
                  </a:lnTo>
                  <a:lnTo>
                    <a:pt x="115" y="366"/>
                  </a:lnTo>
                  <a:lnTo>
                    <a:pt x="111" y="365"/>
                  </a:lnTo>
                  <a:lnTo>
                    <a:pt x="109" y="362"/>
                  </a:lnTo>
                  <a:lnTo>
                    <a:pt x="107" y="360"/>
                  </a:lnTo>
                  <a:lnTo>
                    <a:pt x="106" y="358"/>
                  </a:lnTo>
                  <a:lnTo>
                    <a:pt x="105" y="355"/>
                  </a:lnTo>
                  <a:lnTo>
                    <a:pt x="105" y="352"/>
                  </a:lnTo>
                  <a:lnTo>
                    <a:pt x="105" y="347"/>
                  </a:lnTo>
                  <a:lnTo>
                    <a:pt x="103" y="342"/>
                  </a:lnTo>
                  <a:lnTo>
                    <a:pt x="101" y="338"/>
                  </a:lnTo>
                  <a:lnTo>
                    <a:pt x="97" y="333"/>
                  </a:lnTo>
                  <a:lnTo>
                    <a:pt x="93" y="328"/>
                  </a:lnTo>
                  <a:lnTo>
                    <a:pt x="89" y="324"/>
                  </a:lnTo>
                  <a:lnTo>
                    <a:pt x="82" y="320"/>
                  </a:lnTo>
                  <a:lnTo>
                    <a:pt x="76" y="315"/>
                  </a:lnTo>
                  <a:lnTo>
                    <a:pt x="61" y="308"/>
                  </a:lnTo>
                  <a:lnTo>
                    <a:pt x="43" y="301"/>
                  </a:lnTo>
                  <a:lnTo>
                    <a:pt x="22" y="297"/>
                  </a:lnTo>
                  <a:lnTo>
                    <a:pt x="0" y="293"/>
                  </a:lnTo>
                  <a:lnTo>
                    <a:pt x="0" y="626"/>
                  </a:lnTo>
                  <a:lnTo>
                    <a:pt x="0" y="626"/>
                  </a:lnTo>
                  <a:lnTo>
                    <a:pt x="0" y="627"/>
                  </a:lnTo>
                  <a:lnTo>
                    <a:pt x="2" y="648"/>
                  </a:lnTo>
                  <a:lnTo>
                    <a:pt x="5" y="669"/>
                  </a:lnTo>
                  <a:lnTo>
                    <a:pt x="11" y="688"/>
                  </a:lnTo>
                  <a:lnTo>
                    <a:pt x="18" y="707"/>
                  </a:lnTo>
                  <a:lnTo>
                    <a:pt x="27" y="725"/>
                  </a:lnTo>
                  <a:lnTo>
                    <a:pt x="37" y="742"/>
                  </a:lnTo>
                  <a:lnTo>
                    <a:pt x="49" y="758"/>
                  </a:lnTo>
                  <a:lnTo>
                    <a:pt x="63" y="772"/>
                  </a:lnTo>
                  <a:lnTo>
                    <a:pt x="78" y="786"/>
                  </a:lnTo>
                  <a:lnTo>
                    <a:pt x="94" y="798"/>
                  </a:lnTo>
                  <a:lnTo>
                    <a:pt x="111" y="807"/>
                  </a:lnTo>
                  <a:lnTo>
                    <a:pt x="130" y="816"/>
                  </a:lnTo>
                  <a:lnTo>
                    <a:pt x="149" y="823"/>
                  </a:lnTo>
                  <a:lnTo>
                    <a:pt x="168" y="829"/>
                  </a:lnTo>
                  <a:lnTo>
                    <a:pt x="189" y="831"/>
                  </a:lnTo>
                  <a:lnTo>
                    <a:pt x="210" y="832"/>
                  </a:lnTo>
                  <a:lnTo>
                    <a:pt x="221" y="832"/>
                  </a:lnTo>
                  <a:lnTo>
                    <a:pt x="232" y="831"/>
                  </a:lnTo>
                  <a:lnTo>
                    <a:pt x="242" y="830"/>
                  </a:lnTo>
                  <a:lnTo>
                    <a:pt x="253" y="828"/>
                  </a:lnTo>
                  <a:lnTo>
                    <a:pt x="272" y="823"/>
                  </a:lnTo>
                  <a:lnTo>
                    <a:pt x="292" y="816"/>
                  </a:lnTo>
                  <a:lnTo>
                    <a:pt x="311" y="807"/>
                  </a:lnTo>
                  <a:lnTo>
                    <a:pt x="328" y="797"/>
                  </a:lnTo>
                  <a:lnTo>
                    <a:pt x="344" y="785"/>
                  </a:lnTo>
                  <a:lnTo>
                    <a:pt x="359" y="771"/>
                  </a:lnTo>
                  <a:lnTo>
                    <a:pt x="372" y="756"/>
                  </a:lnTo>
                  <a:lnTo>
                    <a:pt x="385" y="740"/>
                  </a:lnTo>
                  <a:lnTo>
                    <a:pt x="396" y="723"/>
                  </a:lnTo>
                  <a:lnTo>
                    <a:pt x="404" y="704"/>
                  </a:lnTo>
                  <a:lnTo>
                    <a:pt x="411" y="685"/>
                  </a:lnTo>
                  <a:lnTo>
                    <a:pt x="416" y="665"/>
                  </a:lnTo>
                  <a:lnTo>
                    <a:pt x="418" y="654"/>
                  </a:lnTo>
                  <a:lnTo>
                    <a:pt x="419" y="643"/>
                  </a:lnTo>
                  <a:lnTo>
                    <a:pt x="420" y="633"/>
                  </a:lnTo>
                  <a:lnTo>
                    <a:pt x="420" y="622"/>
                  </a:lnTo>
                  <a:lnTo>
                    <a:pt x="420" y="608"/>
                  </a:lnTo>
                  <a:lnTo>
                    <a:pt x="418" y="593"/>
                  </a:lnTo>
                  <a:lnTo>
                    <a:pt x="416" y="579"/>
                  </a:lnTo>
                  <a:lnTo>
                    <a:pt x="413" y="565"/>
                  </a:lnTo>
                  <a:lnTo>
                    <a:pt x="408" y="552"/>
                  </a:lnTo>
                  <a:lnTo>
                    <a:pt x="403" y="539"/>
                  </a:lnTo>
                  <a:lnTo>
                    <a:pt x="397" y="526"/>
                  </a:lnTo>
                  <a:lnTo>
                    <a:pt x="390" y="5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3860">
              <a:extLst>
                <a:ext uri="{FF2B5EF4-FFF2-40B4-BE49-F238E27FC236}">
                  <a16:creationId xmlns:a16="http://schemas.microsoft.com/office/drawing/2014/main" id="{F0042405-7464-488A-BBDE-6CA0B1E0F2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79013" y="2500313"/>
              <a:ext cx="133350" cy="265113"/>
            </a:xfrm>
            <a:custGeom>
              <a:avLst/>
              <a:gdLst>
                <a:gd name="T0" fmla="*/ 382 w 421"/>
                <a:gd name="T1" fmla="*/ 676 h 832"/>
                <a:gd name="T2" fmla="*/ 349 w 421"/>
                <a:gd name="T3" fmla="*/ 737 h 832"/>
                <a:gd name="T4" fmla="*/ 296 w 421"/>
                <a:gd name="T5" fmla="*/ 781 h 832"/>
                <a:gd name="T6" fmla="*/ 229 w 421"/>
                <a:gd name="T7" fmla="*/ 802 h 832"/>
                <a:gd name="T8" fmla="*/ 157 w 421"/>
                <a:gd name="T9" fmla="*/ 795 h 832"/>
                <a:gd name="T10" fmla="*/ 96 w 421"/>
                <a:gd name="T11" fmla="*/ 761 h 832"/>
                <a:gd name="T12" fmla="*/ 52 w 421"/>
                <a:gd name="T13" fmla="*/ 708 h 832"/>
                <a:gd name="T14" fmla="*/ 30 w 421"/>
                <a:gd name="T15" fmla="*/ 640 h 832"/>
                <a:gd name="T16" fmla="*/ 35 w 421"/>
                <a:gd name="T17" fmla="*/ 582 h 832"/>
                <a:gd name="T18" fmla="*/ 53 w 421"/>
                <a:gd name="T19" fmla="*/ 534 h 832"/>
                <a:gd name="T20" fmla="*/ 103 w 421"/>
                <a:gd name="T21" fmla="*/ 481 h 832"/>
                <a:gd name="T22" fmla="*/ 139 w 421"/>
                <a:gd name="T23" fmla="*/ 459 h 832"/>
                <a:gd name="T24" fmla="*/ 177 w 421"/>
                <a:gd name="T25" fmla="*/ 447 h 832"/>
                <a:gd name="T26" fmla="*/ 216 w 421"/>
                <a:gd name="T27" fmla="*/ 444 h 832"/>
                <a:gd name="T28" fmla="*/ 260 w 421"/>
                <a:gd name="T29" fmla="*/ 454 h 832"/>
                <a:gd name="T30" fmla="*/ 322 w 421"/>
                <a:gd name="T31" fmla="*/ 490 h 832"/>
                <a:gd name="T32" fmla="*/ 368 w 421"/>
                <a:gd name="T33" fmla="*/ 546 h 832"/>
                <a:gd name="T34" fmla="*/ 390 w 421"/>
                <a:gd name="T35" fmla="*/ 607 h 832"/>
                <a:gd name="T36" fmla="*/ 332 w 421"/>
                <a:gd name="T37" fmla="*/ 0 h 832"/>
                <a:gd name="T38" fmla="*/ 292 w 421"/>
                <a:gd name="T39" fmla="*/ 11 h 832"/>
                <a:gd name="T40" fmla="*/ 267 w 421"/>
                <a:gd name="T41" fmla="*/ 28 h 832"/>
                <a:gd name="T42" fmla="*/ 153 w 421"/>
                <a:gd name="T43" fmla="*/ 238 h 832"/>
                <a:gd name="T44" fmla="*/ 30 w 421"/>
                <a:gd name="T45" fmla="*/ 514 h 832"/>
                <a:gd name="T46" fmla="*/ 8 w 421"/>
                <a:gd name="T47" fmla="*/ 565 h 832"/>
                <a:gd name="T48" fmla="*/ 0 w 421"/>
                <a:gd name="T49" fmla="*/ 622 h 832"/>
                <a:gd name="T50" fmla="*/ 5 w 421"/>
                <a:gd name="T51" fmla="*/ 665 h 832"/>
                <a:gd name="T52" fmla="*/ 36 w 421"/>
                <a:gd name="T53" fmla="*/ 740 h 832"/>
                <a:gd name="T54" fmla="*/ 93 w 421"/>
                <a:gd name="T55" fmla="*/ 797 h 832"/>
                <a:gd name="T56" fmla="*/ 168 w 421"/>
                <a:gd name="T57" fmla="*/ 828 h 832"/>
                <a:gd name="T58" fmla="*/ 211 w 421"/>
                <a:gd name="T59" fmla="*/ 832 h 832"/>
                <a:gd name="T60" fmla="*/ 291 w 421"/>
                <a:gd name="T61" fmla="*/ 816 h 832"/>
                <a:gd name="T62" fmla="*/ 358 w 421"/>
                <a:gd name="T63" fmla="*/ 772 h 832"/>
                <a:gd name="T64" fmla="*/ 403 w 421"/>
                <a:gd name="T65" fmla="*/ 708 h 832"/>
                <a:gd name="T66" fmla="*/ 421 w 421"/>
                <a:gd name="T67" fmla="*/ 627 h 832"/>
                <a:gd name="T68" fmla="*/ 398 w 421"/>
                <a:gd name="T69" fmla="*/ 297 h 832"/>
                <a:gd name="T70" fmla="*/ 337 w 421"/>
                <a:gd name="T71" fmla="*/ 320 h 832"/>
                <a:gd name="T72" fmla="*/ 320 w 421"/>
                <a:gd name="T73" fmla="*/ 338 h 832"/>
                <a:gd name="T74" fmla="*/ 316 w 421"/>
                <a:gd name="T75" fmla="*/ 355 h 832"/>
                <a:gd name="T76" fmla="*/ 309 w 421"/>
                <a:gd name="T77" fmla="*/ 365 h 832"/>
                <a:gd name="T78" fmla="*/ 297 w 421"/>
                <a:gd name="T79" fmla="*/ 367 h 832"/>
                <a:gd name="T80" fmla="*/ 288 w 421"/>
                <a:gd name="T81" fmla="*/ 360 h 832"/>
                <a:gd name="T82" fmla="*/ 286 w 421"/>
                <a:gd name="T83" fmla="*/ 343 h 832"/>
                <a:gd name="T84" fmla="*/ 301 w 421"/>
                <a:gd name="T85" fmla="*/ 312 h 832"/>
                <a:gd name="T86" fmla="*/ 333 w 421"/>
                <a:gd name="T87" fmla="*/ 287 h 832"/>
                <a:gd name="T88" fmla="*/ 379 w 421"/>
                <a:gd name="T89" fmla="*/ 270 h 832"/>
                <a:gd name="T90" fmla="*/ 421 w 421"/>
                <a:gd name="T91" fmla="*/ 36 h 832"/>
                <a:gd name="T92" fmla="*/ 417 w 421"/>
                <a:gd name="T93" fmla="*/ 26 h 832"/>
                <a:gd name="T94" fmla="*/ 384 w 421"/>
                <a:gd name="T95" fmla="*/ 6 h 832"/>
                <a:gd name="T96" fmla="*/ 343 w 421"/>
                <a:gd name="T97" fmla="*/ 0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21" h="832">
                  <a:moveTo>
                    <a:pt x="391" y="622"/>
                  </a:moveTo>
                  <a:lnTo>
                    <a:pt x="390" y="640"/>
                  </a:lnTo>
                  <a:lnTo>
                    <a:pt x="386" y="658"/>
                  </a:lnTo>
                  <a:lnTo>
                    <a:pt x="382" y="676"/>
                  </a:lnTo>
                  <a:lnTo>
                    <a:pt x="377" y="693"/>
                  </a:lnTo>
                  <a:lnTo>
                    <a:pt x="369" y="708"/>
                  </a:lnTo>
                  <a:lnTo>
                    <a:pt x="360" y="723"/>
                  </a:lnTo>
                  <a:lnTo>
                    <a:pt x="349" y="737"/>
                  </a:lnTo>
                  <a:lnTo>
                    <a:pt x="338" y="749"/>
                  </a:lnTo>
                  <a:lnTo>
                    <a:pt x="325" y="761"/>
                  </a:lnTo>
                  <a:lnTo>
                    <a:pt x="311" y="772"/>
                  </a:lnTo>
                  <a:lnTo>
                    <a:pt x="296" y="781"/>
                  </a:lnTo>
                  <a:lnTo>
                    <a:pt x="280" y="788"/>
                  </a:lnTo>
                  <a:lnTo>
                    <a:pt x="264" y="795"/>
                  </a:lnTo>
                  <a:lnTo>
                    <a:pt x="247" y="799"/>
                  </a:lnTo>
                  <a:lnTo>
                    <a:pt x="229" y="802"/>
                  </a:lnTo>
                  <a:lnTo>
                    <a:pt x="211" y="802"/>
                  </a:lnTo>
                  <a:lnTo>
                    <a:pt x="192" y="802"/>
                  </a:lnTo>
                  <a:lnTo>
                    <a:pt x="174" y="799"/>
                  </a:lnTo>
                  <a:lnTo>
                    <a:pt x="157" y="795"/>
                  </a:lnTo>
                  <a:lnTo>
                    <a:pt x="140" y="788"/>
                  </a:lnTo>
                  <a:lnTo>
                    <a:pt x="125" y="781"/>
                  </a:lnTo>
                  <a:lnTo>
                    <a:pt x="110" y="772"/>
                  </a:lnTo>
                  <a:lnTo>
                    <a:pt x="96" y="761"/>
                  </a:lnTo>
                  <a:lnTo>
                    <a:pt x="83" y="749"/>
                  </a:lnTo>
                  <a:lnTo>
                    <a:pt x="71" y="737"/>
                  </a:lnTo>
                  <a:lnTo>
                    <a:pt x="60" y="723"/>
                  </a:lnTo>
                  <a:lnTo>
                    <a:pt x="52" y="708"/>
                  </a:lnTo>
                  <a:lnTo>
                    <a:pt x="44" y="693"/>
                  </a:lnTo>
                  <a:lnTo>
                    <a:pt x="38" y="676"/>
                  </a:lnTo>
                  <a:lnTo>
                    <a:pt x="34" y="658"/>
                  </a:lnTo>
                  <a:lnTo>
                    <a:pt x="30" y="640"/>
                  </a:lnTo>
                  <a:lnTo>
                    <a:pt x="30" y="622"/>
                  </a:lnTo>
                  <a:lnTo>
                    <a:pt x="30" y="609"/>
                  </a:lnTo>
                  <a:lnTo>
                    <a:pt x="33" y="595"/>
                  </a:lnTo>
                  <a:lnTo>
                    <a:pt x="35" y="582"/>
                  </a:lnTo>
                  <a:lnTo>
                    <a:pt x="38" y="569"/>
                  </a:lnTo>
                  <a:lnTo>
                    <a:pt x="42" y="556"/>
                  </a:lnTo>
                  <a:lnTo>
                    <a:pt x="48" y="545"/>
                  </a:lnTo>
                  <a:lnTo>
                    <a:pt x="53" y="534"/>
                  </a:lnTo>
                  <a:lnTo>
                    <a:pt x="60" y="522"/>
                  </a:lnTo>
                  <a:lnTo>
                    <a:pt x="77" y="505"/>
                  </a:lnTo>
                  <a:lnTo>
                    <a:pt x="94" y="489"/>
                  </a:lnTo>
                  <a:lnTo>
                    <a:pt x="103" y="481"/>
                  </a:lnTo>
                  <a:lnTo>
                    <a:pt x="112" y="475"/>
                  </a:lnTo>
                  <a:lnTo>
                    <a:pt x="121" y="470"/>
                  </a:lnTo>
                  <a:lnTo>
                    <a:pt x="130" y="464"/>
                  </a:lnTo>
                  <a:lnTo>
                    <a:pt x="139" y="459"/>
                  </a:lnTo>
                  <a:lnTo>
                    <a:pt x="148" y="456"/>
                  </a:lnTo>
                  <a:lnTo>
                    <a:pt x="158" y="451"/>
                  </a:lnTo>
                  <a:lnTo>
                    <a:pt x="168" y="449"/>
                  </a:lnTo>
                  <a:lnTo>
                    <a:pt x="177" y="447"/>
                  </a:lnTo>
                  <a:lnTo>
                    <a:pt x="187" y="445"/>
                  </a:lnTo>
                  <a:lnTo>
                    <a:pt x="197" y="444"/>
                  </a:lnTo>
                  <a:lnTo>
                    <a:pt x="206" y="444"/>
                  </a:lnTo>
                  <a:lnTo>
                    <a:pt x="216" y="444"/>
                  </a:lnTo>
                  <a:lnTo>
                    <a:pt x="225" y="445"/>
                  </a:lnTo>
                  <a:lnTo>
                    <a:pt x="234" y="446"/>
                  </a:lnTo>
                  <a:lnTo>
                    <a:pt x="243" y="448"/>
                  </a:lnTo>
                  <a:lnTo>
                    <a:pt x="260" y="454"/>
                  </a:lnTo>
                  <a:lnTo>
                    <a:pt x="277" y="460"/>
                  </a:lnTo>
                  <a:lnTo>
                    <a:pt x="293" y="469"/>
                  </a:lnTo>
                  <a:lnTo>
                    <a:pt x="308" y="479"/>
                  </a:lnTo>
                  <a:lnTo>
                    <a:pt x="322" y="490"/>
                  </a:lnTo>
                  <a:lnTo>
                    <a:pt x="336" y="503"/>
                  </a:lnTo>
                  <a:lnTo>
                    <a:pt x="348" y="517"/>
                  </a:lnTo>
                  <a:lnTo>
                    <a:pt x="359" y="531"/>
                  </a:lnTo>
                  <a:lnTo>
                    <a:pt x="368" y="546"/>
                  </a:lnTo>
                  <a:lnTo>
                    <a:pt x="376" y="561"/>
                  </a:lnTo>
                  <a:lnTo>
                    <a:pt x="382" y="576"/>
                  </a:lnTo>
                  <a:lnTo>
                    <a:pt x="386" y="592"/>
                  </a:lnTo>
                  <a:lnTo>
                    <a:pt x="390" y="607"/>
                  </a:lnTo>
                  <a:lnTo>
                    <a:pt x="391" y="622"/>
                  </a:lnTo>
                  <a:lnTo>
                    <a:pt x="391" y="622"/>
                  </a:lnTo>
                  <a:close/>
                  <a:moveTo>
                    <a:pt x="343" y="0"/>
                  </a:moveTo>
                  <a:lnTo>
                    <a:pt x="332" y="0"/>
                  </a:lnTo>
                  <a:lnTo>
                    <a:pt x="321" y="2"/>
                  </a:lnTo>
                  <a:lnTo>
                    <a:pt x="310" y="4"/>
                  </a:lnTo>
                  <a:lnTo>
                    <a:pt x="301" y="6"/>
                  </a:lnTo>
                  <a:lnTo>
                    <a:pt x="292" y="11"/>
                  </a:lnTo>
                  <a:lnTo>
                    <a:pt x="284" y="15"/>
                  </a:lnTo>
                  <a:lnTo>
                    <a:pt x="276" y="20"/>
                  </a:lnTo>
                  <a:lnTo>
                    <a:pt x="270" y="26"/>
                  </a:lnTo>
                  <a:lnTo>
                    <a:pt x="267" y="28"/>
                  </a:lnTo>
                  <a:lnTo>
                    <a:pt x="266" y="31"/>
                  </a:lnTo>
                  <a:lnTo>
                    <a:pt x="213" y="178"/>
                  </a:lnTo>
                  <a:lnTo>
                    <a:pt x="155" y="236"/>
                  </a:lnTo>
                  <a:lnTo>
                    <a:pt x="153" y="238"/>
                  </a:lnTo>
                  <a:lnTo>
                    <a:pt x="152" y="240"/>
                  </a:lnTo>
                  <a:lnTo>
                    <a:pt x="31" y="510"/>
                  </a:lnTo>
                  <a:lnTo>
                    <a:pt x="31" y="513"/>
                  </a:lnTo>
                  <a:lnTo>
                    <a:pt x="30" y="514"/>
                  </a:lnTo>
                  <a:lnTo>
                    <a:pt x="24" y="525"/>
                  </a:lnTo>
                  <a:lnTo>
                    <a:pt x="18" y="538"/>
                  </a:lnTo>
                  <a:lnTo>
                    <a:pt x="12" y="551"/>
                  </a:lnTo>
                  <a:lnTo>
                    <a:pt x="8" y="565"/>
                  </a:lnTo>
                  <a:lnTo>
                    <a:pt x="5" y="579"/>
                  </a:lnTo>
                  <a:lnTo>
                    <a:pt x="3" y="593"/>
                  </a:lnTo>
                  <a:lnTo>
                    <a:pt x="0" y="607"/>
                  </a:lnTo>
                  <a:lnTo>
                    <a:pt x="0" y="622"/>
                  </a:lnTo>
                  <a:lnTo>
                    <a:pt x="0" y="633"/>
                  </a:lnTo>
                  <a:lnTo>
                    <a:pt x="1" y="643"/>
                  </a:lnTo>
                  <a:lnTo>
                    <a:pt x="3" y="654"/>
                  </a:lnTo>
                  <a:lnTo>
                    <a:pt x="5" y="665"/>
                  </a:lnTo>
                  <a:lnTo>
                    <a:pt x="9" y="685"/>
                  </a:lnTo>
                  <a:lnTo>
                    <a:pt x="16" y="704"/>
                  </a:lnTo>
                  <a:lnTo>
                    <a:pt x="25" y="723"/>
                  </a:lnTo>
                  <a:lnTo>
                    <a:pt x="36" y="740"/>
                  </a:lnTo>
                  <a:lnTo>
                    <a:pt x="48" y="756"/>
                  </a:lnTo>
                  <a:lnTo>
                    <a:pt x="62" y="771"/>
                  </a:lnTo>
                  <a:lnTo>
                    <a:pt x="77" y="785"/>
                  </a:lnTo>
                  <a:lnTo>
                    <a:pt x="93" y="797"/>
                  </a:lnTo>
                  <a:lnTo>
                    <a:pt x="110" y="807"/>
                  </a:lnTo>
                  <a:lnTo>
                    <a:pt x="128" y="816"/>
                  </a:lnTo>
                  <a:lnTo>
                    <a:pt x="147" y="823"/>
                  </a:lnTo>
                  <a:lnTo>
                    <a:pt x="168" y="828"/>
                  </a:lnTo>
                  <a:lnTo>
                    <a:pt x="178" y="830"/>
                  </a:lnTo>
                  <a:lnTo>
                    <a:pt x="189" y="831"/>
                  </a:lnTo>
                  <a:lnTo>
                    <a:pt x="200" y="832"/>
                  </a:lnTo>
                  <a:lnTo>
                    <a:pt x="211" y="832"/>
                  </a:lnTo>
                  <a:lnTo>
                    <a:pt x="232" y="831"/>
                  </a:lnTo>
                  <a:lnTo>
                    <a:pt x="252" y="829"/>
                  </a:lnTo>
                  <a:lnTo>
                    <a:pt x="272" y="823"/>
                  </a:lnTo>
                  <a:lnTo>
                    <a:pt x="291" y="816"/>
                  </a:lnTo>
                  <a:lnTo>
                    <a:pt x="309" y="807"/>
                  </a:lnTo>
                  <a:lnTo>
                    <a:pt x="326" y="798"/>
                  </a:lnTo>
                  <a:lnTo>
                    <a:pt x="343" y="786"/>
                  </a:lnTo>
                  <a:lnTo>
                    <a:pt x="358" y="772"/>
                  </a:lnTo>
                  <a:lnTo>
                    <a:pt x="370" y="758"/>
                  </a:lnTo>
                  <a:lnTo>
                    <a:pt x="383" y="742"/>
                  </a:lnTo>
                  <a:lnTo>
                    <a:pt x="394" y="725"/>
                  </a:lnTo>
                  <a:lnTo>
                    <a:pt x="403" y="708"/>
                  </a:lnTo>
                  <a:lnTo>
                    <a:pt x="410" y="688"/>
                  </a:lnTo>
                  <a:lnTo>
                    <a:pt x="415" y="669"/>
                  </a:lnTo>
                  <a:lnTo>
                    <a:pt x="419" y="648"/>
                  </a:lnTo>
                  <a:lnTo>
                    <a:pt x="421" y="627"/>
                  </a:lnTo>
                  <a:lnTo>
                    <a:pt x="421" y="626"/>
                  </a:lnTo>
                  <a:lnTo>
                    <a:pt x="421" y="626"/>
                  </a:lnTo>
                  <a:lnTo>
                    <a:pt x="421" y="293"/>
                  </a:lnTo>
                  <a:lnTo>
                    <a:pt x="398" y="297"/>
                  </a:lnTo>
                  <a:lnTo>
                    <a:pt x="377" y="301"/>
                  </a:lnTo>
                  <a:lnTo>
                    <a:pt x="360" y="308"/>
                  </a:lnTo>
                  <a:lnTo>
                    <a:pt x="344" y="315"/>
                  </a:lnTo>
                  <a:lnTo>
                    <a:pt x="337" y="320"/>
                  </a:lnTo>
                  <a:lnTo>
                    <a:pt x="332" y="324"/>
                  </a:lnTo>
                  <a:lnTo>
                    <a:pt x="328" y="328"/>
                  </a:lnTo>
                  <a:lnTo>
                    <a:pt x="323" y="333"/>
                  </a:lnTo>
                  <a:lnTo>
                    <a:pt x="320" y="338"/>
                  </a:lnTo>
                  <a:lnTo>
                    <a:pt x="318" y="342"/>
                  </a:lnTo>
                  <a:lnTo>
                    <a:pt x="316" y="347"/>
                  </a:lnTo>
                  <a:lnTo>
                    <a:pt x="316" y="352"/>
                  </a:lnTo>
                  <a:lnTo>
                    <a:pt x="316" y="355"/>
                  </a:lnTo>
                  <a:lnTo>
                    <a:pt x="315" y="358"/>
                  </a:lnTo>
                  <a:lnTo>
                    <a:pt x="312" y="360"/>
                  </a:lnTo>
                  <a:lnTo>
                    <a:pt x="311" y="362"/>
                  </a:lnTo>
                  <a:lnTo>
                    <a:pt x="309" y="365"/>
                  </a:lnTo>
                  <a:lnTo>
                    <a:pt x="306" y="366"/>
                  </a:lnTo>
                  <a:lnTo>
                    <a:pt x="304" y="367"/>
                  </a:lnTo>
                  <a:lnTo>
                    <a:pt x="301" y="367"/>
                  </a:lnTo>
                  <a:lnTo>
                    <a:pt x="297" y="367"/>
                  </a:lnTo>
                  <a:lnTo>
                    <a:pt x="294" y="366"/>
                  </a:lnTo>
                  <a:lnTo>
                    <a:pt x="292" y="365"/>
                  </a:lnTo>
                  <a:lnTo>
                    <a:pt x="290" y="362"/>
                  </a:lnTo>
                  <a:lnTo>
                    <a:pt x="288" y="360"/>
                  </a:lnTo>
                  <a:lnTo>
                    <a:pt x="287" y="358"/>
                  </a:lnTo>
                  <a:lnTo>
                    <a:pt x="286" y="355"/>
                  </a:lnTo>
                  <a:lnTo>
                    <a:pt x="286" y="352"/>
                  </a:lnTo>
                  <a:lnTo>
                    <a:pt x="286" y="343"/>
                  </a:lnTo>
                  <a:lnTo>
                    <a:pt x="288" y="336"/>
                  </a:lnTo>
                  <a:lnTo>
                    <a:pt x="291" y="327"/>
                  </a:lnTo>
                  <a:lnTo>
                    <a:pt x="295" y="320"/>
                  </a:lnTo>
                  <a:lnTo>
                    <a:pt x="301" y="312"/>
                  </a:lnTo>
                  <a:lnTo>
                    <a:pt x="307" y="306"/>
                  </a:lnTo>
                  <a:lnTo>
                    <a:pt x="315" y="299"/>
                  </a:lnTo>
                  <a:lnTo>
                    <a:pt x="323" y="293"/>
                  </a:lnTo>
                  <a:lnTo>
                    <a:pt x="333" y="287"/>
                  </a:lnTo>
                  <a:lnTo>
                    <a:pt x="344" y="282"/>
                  </a:lnTo>
                  <a:lnTo>
                    <a:pt x="354" y="278"/>
                  </a:lnTo>
                  <a:lnTo>
                    <a:pt x="366" y="273"/>
                  </a:lnTo>
                  <a:lnTo>
                    <a:pt x="379" y="270"/>
                  </a:lnTo>
                  <a:lnTo>
                    <a:pt x="392" y="267"/>
                  </a:lnTo>
                  <a:lnTo>
                    <a:pt x="406" y="265"/>
                  </a:lnTo>
                  <a:lnTo>
                    <a:pt x="421" y="263"/>
                  </a:lnTo>
                  <a:lnTo>
                    <a:pt x="421" y="36"/>
                  </a:lnTo>
                  <a:lnTo>
                    <a:pt x="421" y="33"/>
                  </a:lnTo>
                  <a:lnTo>
                    <a:pt x="420" y="31"/>
                  </a:lnTo>
                  <a:lnTo>
                    <a:pt x="419" y="28"/>
                  </a:lnTo>
                  <a:lnTo>
                    <a:pt x="417" y="26"/>
                  </a:lnTo>
                  <a:lnTo>
                    <a:pt x="410" y="20"/>
                  </a:lnTo>
                  <a:lnTo>
                    <a:pt x="403" y="15"/>
                  </a:lnTo>
                  <a:lnTo>
                    <a:pt x="394" y="11"/>
                  </a:lnTo>
                  <a:lnTo>
                    <a:pt x="384" y="6"/>
                  </a:lnTo>
                  <a:lnTo>
                    <a:pt x="375" y="4"/>
                  </a:lnTo>
                  <a:lnTo>
                    <a:pt x="365" y="2"/>
                  </a:lnTo>
                  <a:lnTo>
                    <a:pt x="354" y="0"/>
                  </a:lnTo>
                  <a:lnTo>
                    <a:pt x="343" y="0"/>
                  </a:lnTo>
                  <a:lnTo>
                    <a:pt x="34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3861">
              <a:extLst>
                <a:ext uri="{FF2B5EF4-FFF2-40B4-BE49-F238E27FC236}">
                  <a16:creationId xmlns:a16="http://schemas.microsoft.com/office/drawing/2014/main" id="{3A526A29-4385-410D-897C-52EA19411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2825" y="2659063"/>
              <a:ext cx="46038" cy="46038"/>
            </a:xfrm>
            <a:custGeom>
              <a:avLst/>
              <a:gdLst>
                <a:gd name="T0" fmla="*/ 2 w 144"/>
                <a:gd name="T1" fmla="*/ 132 h 143"/>
                <a:gd name="T2" fmla="*/ 4 w 144"/>
                <a:gd name="T3" fmla="*/ 137 h 143"/>
                <a:gd name="T4" fmla="*/ 7 w 144"/>
                <a:gd name="T5" fmla="*/ 140 h 143"/>
                <a:gd name="T6" fmla="*/ 12 w 144"/>
                <a:gd name="T7" fmla="*/ 143 h 143"/>
                <a:gd name="T8" fmla="*/ 19 w 144"/>
                <a:gd name="T9" fmla="*/ 143 h 143"/>
                <a:gd name="T10" fmla="*/ 24 w 144"/>
                <a:gd name="T11" fmla="*/ 140 h 143"/>
                <a:gd name="T12" fmla="*/ 28 w 144"/>
                <a:gd name="T13" fmla="*/ 137 h 143"/>
                <a:gd name="T14" fmla="*/ 31 w 144"/>
                <a:gd name="T15" fmla="*/ 132 h 143"/>
                <a:gd name="T16" fmla="*/ 32 w 144"/>
                <a:gd name="T17" fmla="*/ 118 h 143"/>
                <a:gd name="T18" fmla="*/ 35 w 144"/>
                <a:gd name="T19" fmla="*/ 98 h 143"/>
                <a:gd name="T20" fmla="*/ 42 w 144"/>
                <a:gd name="T21" fmla="*/ 81 h 143"/>
                <a:gd name="T22" fmla="*/ 53 w 144"/>
                <a:gd name="T23" fmla="*/ 65 h 143"/>
                <a:gd name="T24" fmla="*/ 67 w 144"/>
                <a:gd name="T25" fmla="*/ 52 h 143"/>
                <a:gd name="T26" fmla="*/ 82 w 144"/>
                <a:gd name="T27" fmla="*/ 41 h 143"/>
                <a:gd name="T28" fmla="*/ 100 w 144"/>
                <a:gd name="T29" fmla="*/ 34 h 143"/>
                <a:gd name="T30" fmla="*/ 120 w 144"/>
                <a:gd name="T31" fmla="*/ 30 h 143"/>
                <a:gd name="T32" fmla="*/ 132 w 144"/>
                <a:gd name="T33" fmla="*/ 30 h 143"/>
                <a:gd name="T34" fmla="*/ 138 w 144"/>
                <a:gd name="T35" fmla="*/ 26 h 143"/>
                <a:gd name="T36" fmla="*/ 142 w 144"/>
                <a:gd name="T37" fmla="*/ 23 h 143"/>
                <a:gd name="T38" fmla="*/ 144 w 144"/>
                <a:gd name="T39" fmla="*/ 18 h 143"/>
                <a:gd name="T40" fmla="*/ 144 w 144"/>
                <a:gd name="T41" fmla="*/ 11 h 143"/>
                <a:gd name="T42" fmla="*/ 142 w 144"/>
                <a:gd name="T43" fmla="*/ 6 h 143"/>
                <a:gd name="T44" fmla="*/ 138 w 144"/>
                <a:gd name="T45" fmla="*/ 2 h 143"/>
                <a:gd name="T46" fmla="*/ 132 w 144"/>
                <a:gd name="T47" fmla="*/ 0 h 143"/>
                <a:gd name="T48" fmla="*/ 116 w 144"/>
                <a:gd name="T49" fmla="*/ 0 h 143"/>
                <a:gd name="T50" fmla="*/ 92 w 144"/>
                <a:gd name="T51" fmla="*/ 5 h 143"/>
                <a:gd name="T52" fmla="*/ 68 w 144"/>
                <a:gd name="T53" fmla="*/ 15 h 143"/>
                <a:gd name="T54" fmla="*/ 48 w 144"/>
                <a:gd name="T55" fmla="*/ 29 h 143"/>
                <a:gd name="T56" fmla="*/ 31 w 144"/>
                <a:gd name="T57" fmla="*/ 46 h 143"/>
                <a:gd name="T58" fmla="*/ 17 w 144"/>
                <a:gd name="T59" fmla="*/ 67 h 143"/>
                <a:gd name="T60" fmla="*/ 7 w 144"/>
                <a:gd name="T61" fmla="*/ 90 h 143"/>
                <a:gd name="T62" fmla="*/ 2 w 144"/>
                <a:gd name="T63" fmla="*/ 115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4" h="143">
                  <a:moveTo>
                    <a:pt x="0" y="128"/>
                  </a:moveTo>
                  <a:lnTo>
                    <a:pt x="2" y="132"/>
                  </a:lnTo>
                  <a:lnTo>
                    <a:pt x="2" y="134"/>
                  </a:lnTo>
                  <a:lnTo>
                    <a:pt x="4" y="137"/>
                  </a:lnTo>
                  <a:lnTo>
                    <a:pt x="5" y="139"/>
                  </a:lnTo>
                  <a:lnTo>
                    <a:pt x="7" y="140"/>
                  </a:lnTo>
                  <a:lnTo>
                    <a:pt x="10" y="142"/>
                  </a:lnTo>
                  <a:lnTo>
                    <a:pt x="12" y="143"/>
                  </a:lnTo>
                  <a:lnTo>
                    <a:pt x="15" y="143"/>
                  </a:lnTo>
                  <a:lnTo>
                    <a:pt x="19" y="143"/>
                  </a:lnTo>
                  <a:lnTo>
                    <a:pt x="22" y="142"/>
                  </a:lnTo>
                  <a:lnTo>
                    <a:pt x="24" y="140"/>
                  </a:lnTo>
                  <a:lnTo>
                    <a:pt x="26" y="139"/>
                  </a:lnTo>
                  <a:lnTo>
                    <a:pt x="28" y="137"/>
                  </a:lnTo>
                  <a:lnTo>
                    <a:pt x="29" y="134"/>
                  </a:lnTo>
                  <a:lnTo>
                    <a:pt x="31" y="132"/>
                  </a:lnTo>
                  <a:lnTo>
                    <a:pt x="31" y="128"/>
                  </a:lnTo>
                  <a:lnTo>
                    <a:pt x="32" y="118"/>
                  </a:lnTo>
                  <a:lnTo>
                    <a:pt x="33" y="108"/>
                  </a:lnTo>
                  <a:lnTo>
                    <a:pt x="35" y="98"/>
                  </a:lnTo>
                  <a:lnTo>
                    <a:pt x="39" y="90"/>
                  </a:lnTo>
                  <a:lnTo>
                    <a:pt x="42" y="81"/>
                  </a:lnTo>
                  <a:lnTo>
                    <a:pt x="48" y="73"/>
                  </a:lnTo>
                  <a:lnTo>
                    <a:pt x="53" y="65"/>
                  </a:lnTo>
                  <a:lnTo>
                    <a:pt x="59" y="59"/>
                  </a:lnTo>
                  <a:lnTo>
                    <a:pt x="67" y="52"/>
                  </a:lnTo>
                  <a:lnTo>
                    <a:pt x="74" y="47"/>
                  </a:lnTo>
                  <a:lnTo>
                    <a:pt x="82" y="41"/>
                  </a:lnTo>
                  <a:lnTo>
                    <a:pt x="92" y="37"/>
                  </a:lnTo>
                  <a:lnTo>
                    <a:pt x="100" y="34"/>
                  </a:lnTo>
                  <a:lnTo>
                    <a:pt x="110" y="32"/>
                  </a:lnTo>
                  <a:lnTo>
                    <a:pt x="120" y="30"/>
                  </a:lnTo>
                  <a:lnTo>
                    <a:pt x="129" y="30"/>
                  </a:lnTo>
                  <a:lnTo>
                    <a:pt x="132" y="30"/>
                  </a:lnTo>
                  <a:lnTo>
                    <a:pt x="136" y="29"/>
                  </a:lnTo>
                  <a:lnTo>
                    <a:pt x="138" y="26"/>
                  </a:lnTo>
                  <a:lnTo>
                    <a:pt x="140" y="25"/>
                  </a:lnTo>
                  <a:lnTo>
                    <a:pt x="142" y="23"/>
                  </a:lnTo>
                  <a:lnTo>
                    <a:pt x="143" y="20"/>
                  </a:lnTo>
                  <a:lnTo>
                    <a:pt x="144" y="18"/>
                  </a:lnTo>
                  <a:lnTo>
                    <a:pt x="144" y="15"/>
                  </a:lnTo>
                  <a:lnTo>
                    <a:pt x="144" y="11"/>
                  </a:lnTo>
                  <a:lnTo>
                    <a:pt x="143" y="8"/>
                  </a:lnTo>
                  <a:lnTo>
                    <a:pt x="142" y="6"/>
                  </a:lnTo>
                  <a:lnTo>
                    <a:pt x="140" y="4"/>
                  </a:lnTo>
                  <a:lnTo>
                    <a:pt x="138" y="2"/>
                  </a:lnTo>
                  <a:lnTo>
                    <a:pt x="136" y="1"/>
                  </a:lnTo>
                  <a:lnTo>
                    <a:pt x="132" y="0"/>
                  </a:lnTo>
                  <a:lnTo>
                    <a:pt x="129" y="0"/>
                  </a:lnTo>
                  <a:lnTo>
                    <a:pt x="116" y="0"/>
                  </a:lnTo>
                  <a:lnTo>
                    <a:pt x="103" y="2"/>
                  </a:lnTo>
                  <a:lnTo>
                    <a:pt x="92" y="5"/>
                  </a:lnTo>
                  <a:lnTo>
                    <a:pt x="80" y="9"/>
                  </a:lnTo>
                  <a:lnTo>
                    <a:pt x="68" y="15"/>
                  </a:lnTo>
                  <a:lnTo>
                    <a:pt x="57" y="21"/>
                  </a:lnTo>
                  <a:lnTo>
                    <a:pt x="48" y="29"/>
                  </a:lnTo>
                  <a:lnTo>
                    <a:pt x="38" y="37"/>
                  </a:lnTo>
                  <a:lnTo>
                    <a:pt x="31" y="46"/>
                  </a:lnTo>
                  <a:lnTo>
                    <a:pt x="23" y="56"/>
                  </a:lnTo>
                  <a:lnTo>
                    <a:pt x="17" y="67"/>
                  </a:lnTo>
                  <a:lnTo>
                    <a:pt x="11" y="78"/>
                  </a:lnTo>
                  <a:lnTo>
                    <a:pt x="7" y="90"/>
                  </a:lnTo>
                  <a:lnTo>
                    <a:pt x="4" y="103"/>
                  </a:lnTo>
                  <a:lnTo>
                    <a:pt x="2" y="115"/>
                  </a:lnTo>
                  <a:lnTo>
                    <a:pt x="0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3862">
              <a:extLst>
                <a:ext uri="{FF2B5EF4-FFF2-40B4-BE49-F238E27FC236}">
                  <a16:creationId xmlns:a16="http://schemas.microsoft.com/office/drawing/2014/main" id="{DD51999E-C893-48A9-8535-6EC975734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59988" y="2659063"/>
              <a:ext cx="44450" cy="46038"/>
            </a:xfrm>
            <a:custGeom>
              <a:avLst/>
              <a:gdLst>
                <a:gd name="T0" fmla="*/ 115 w 144"/>
                <a:gd name="T1" fmla="*/ 0 h 143"/>
                <a:gd name="T2" fmla="*/ 90 w 144"/>
                <a:gd name="T3" fmla="*/ 5 h 143"/>
                <a:gd name="T4" fmla="*/ 66 w 144"/>
                <a:gd name="T5" fmla="*/ 15 h 143"/>
                <a:gd name="T6" fmla="*/ 46 w 144"/>
                <a:gd name="T7" fmla="*/ 29 h 143"/>
                <a:gd name="T8" fmla="*/ 29 w 144"/>
                <a:gd name="T9" fmla="*/ 46 h 143"/>
                <a:gd name="T10" fmla="*/ 15 w 144"/>
                <a:gd name="T11" fmla="*/ 67 h 143"/>
                <a:gd name="T12" fmla="*/ 5 w 144"/>
                <a:gd name="T13" fmla="*/ 90 h 143"/>
                <a:gd name="T14" fmla="*/ 0 w 144"/>
                <a:gd name="T15" fmla="*/ 115 h 143"/>
                <a:gd name="T16" fmla="*/ 0 w 144"/>
                <a:gd name="T17" fmla="*/ 132 h 143"/>
                <a:gd name="T18" fmla="*/ 2 w 144"/>
                <a:gd name="T19" fmla="*/ 137 h 143"/>
                <a:gd name="T20" fmla="*/ 6 w 144"/>
                <a:gd name="T21" fmla="*/ 140 h 143"/>
                <a:gd name="T22" fmla="*/ 12 w 144"/>
                <a:gd name="T23" fmla="*/ 143 h 143"/>
                <a:gd name="T24" fmla="*/ 17 w 144"/>
                <a:gd name="T25" fmla="*/ 143 h 143"/>
                <a:gd name="T26" fmla="*/ 22 w 144"/>
                <a:gd name="T27" fmla="*/ 140 h 143"/>
                <a:gd name="T28" fmla="*/ 27 w 144"/>
                <a:gd name="T29" fmla="*/ 137 h 143"/>
                <a:gd name="T30" fmla="*/ 29 w 144"/>
                <a:gd name="T31" fmla="*/ 132 h 143"/>
                <a:gd name="T32" fmla="*/ 30 w 144"/>
                <a:gd name="T33" fmla="*/ 118 h 143"/>
                <a:gd name="T34" fmla="*/ 34 w 144"/>
                <a:gd name="T35" fmla="*/ 98 h 143"/>
                <a:gd name="T36" fmla="*/ 42 w 144"/>
                <a:gd name="T37" fmla="*/ 81 h 143"/>
                <a:gd name="T38" fmla="*/ 52 w 144"/>
                <a:gd name="T39" fmla="*/ 65 h 143"/>
                <a:gd name="T40" fmla="*/ 65 w 144"/>
                <a:gd name="T41" fmla="*/ 52 h 143"/>
                <a:gd name="T42" fmla="*/ 81 w 144"/>
                <a:gd name="T43" fmla="*/ 41 h 143"/>
                <a:gd name="T44" fmla="*/ 98 w 144"/>
                <a:gd name="T45" fmla="*/ 34 h 143"/>
                <a:gd name="T46" fmla="*/ 118 w 144"/>
                <a:gd name="T47" fmla="*/ 30 h 143"/>
                <a:gd name="T48" fmla="*/ 131 w 144"/>
                <a:gd name="T49" fmla="*/ 30 h 143"/>
                <a:gd name="T50" fmla="*/ 136 w 144"/>
                <a:gd name="T51" fmla="*/ 26 h 143"/>
                <a:gd name="T52" fmla="*/ 140 w 144"/>
                <a:gd name="T53" fmla="*/ 23 h 143"/>
                <a:gd name="T54" fmla="*/ 142 w 144"/>
                <a:gd name="T55" fmla="*/ 18 h 143"/>
                <a:gd name="T56" fmla="*/ 142 w 144"/>
                <a:gd name="T57" fmla="*/ 11 h 143"/>
                <a:gd name="T58" fmla="*/ 140 w 144"/>
                <a:gd name="T59" fmla="*/ 6 h 143"/>
                <a:gd name="T60" fmla="*/ 136 w 144"/>
                <a:gd name="T61" fmla="*/ 2 h 143"/>
                <a:gd name="T62" fmla="*/ 131 w 144"/>
                <a:gd name="T63" fmla="*/ 0 h 143"/>
                <a:gd name="T64" fmla="*/ 129 w 144"/>
                <a:gd name="T65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44" h="143">
                  <a:moveTo>
                    <a:pt x="129" y="0"/>
                  </a:moveTo>
                  <a:lnTo>
                    <a:pt x="115" y="0"/>
                  </a:lnTo>
                  <a:lnTo>
                    <a:pt x="102" y="2"/>
                  </a:lnTo>
                  <a:lnTo>
                    <a:pt x="90" y="5"/>
                  </a:lnTo>
                  <a:lnTo>
                    <a:pt x="78" y="9"/>
                  </a:lnTo>
                  <a:lnTo>
                    <a:pt x="66" y="15"/>
                  </a:lnTo>
                  <a:lnTo>
                    <a:pt x="57" y="21"/>
                  </a:lnTo>
                  <a:lnTo>
                    <a:pt x="46" y="29"/>
                  </a:lnTo>
                  <a:lnTo>
                    <a:pt x="37" y="37"/>
                  </a:lnTo>
                  <a:lnTo>
                    <a:pt x="29" y="46"/>
                  </a:lnTo>
                  <a:lnTo>
                    <a:pt x="21" y="56"/>
                  </a:lnTo>
                  <a:lnTo>
                    <a:pt x="15" y="67"/>
                  </a:lnTo>
                  <a:lnTo>
                    <a:pt x="9" y="78"/>
                  </a:lnTo>
                  <a:lnTo>
                    <a:pt x="5" y="90"/>
                  </a:lnTo>
                  <a:lnTo>
                    <a:pt x="2" y="103"/>
                  </a:lnTo>
                  <a:lnTo>
                    <a:pt x="0" y="115"/>
                  </a:lnTo>
                  <a:lnTo>
                    <a:pt x="0" y="128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7"/>
                  </a:lnTo>
                  <a:lnTo>
                    <a:pt x="4" y="139"/>
                  </a:lnTo>
                  <a:lnTo>
                    <a:pt x="6" y="140"/>
                  </a:lnTo>
                  <a:lnTo>
                    <a:pt x="8" y="142"/>
                  </a:lnTo>
                  <a:lnTo>
                    <a:pt x="12" y="143"/>
                  </a:lnTo>
                  <a:lnTo>
                    <a:pt x="15" y="143"/>
                  </a:lnTo>
                  <a:lnTo>
                    <a:pt x="17" y="143"/>
                  </a:lnTo>
                  <a:lnTo>
                    <a:pt x="20" y="142"/>
                  </a:lnTo>
                  <a:lnTo>
                    <a:pt x="22" y="140"/>
                  </a:lnTo>
                  <a:lnTo>
                    <a:pt x="24" y="139"/>
                  </a:lnTo>
                  <a:lnTo>
                    <a:pt x="27" y="137"/>
                  </a:lnTo>
                  <a:lnTo>
                    <a:pt x="28" y="134"/>
                  </a:lnTo>
                  <a:lnTo>
                    <a:pt x="29" y="132"/>
                  </a:lnTo>
                  <a:lnTo>
                    <a:pt x="30" y="128"/>
                  </a:lnTo>
                  <a:lnTo>
                    <a:pt x="30" y="118"/>
                  </a:lnTo>
                  <a:lnTo>
                    <a:pt x="31" y="108"/>
                  </a:lnTo>
                  <a:lnTo>
                    <a:pt x="34" y="98"/>
                  </a:lnTo>
                  <a:lnTo>
                    <a:pt x="37" y="90"/>
                  </a:lnTo>
                  <a:lnTo>
                    <a:pt x="42" y="81"/>
                  </a:lnTo>
                  <a:lnTo>
                    <a:pt x="46" y="73"/>
                  </a:lnTo>
                  <a:lnTo>
                    <a:pt x="52" y="65"/>
                  </a:lnTo>
                  <a:lnTo>
                    <a:pt x="59" y="59"/>
                  </a:lnTo>
                  <a:lnTo>
                    <a:pt x="65" y="52"/>
                  </a:lnTo>
                  <a:lnTo>
                    <a:pt x="73" y="47"/>
                  </a:lnTo>
                  <a:lnTo>
                    <a:pt x="81" y="41"/>
                  </a:lnTo>
                  <a:lnTo>
                    <a:pt x="90" y="37"/>
                  </a:lnTo>
                  <a:lnTo>
                    <a:pt x="98" y="34"/>
                  </a:lnTo>
                  <a:lnTo>
                    <a:pt x="108" y="32"/>
                  </a:lnTo>
                  <a:lnTo>
                    <a:pt x="118" y="30"/>
                  </a:lnTo>
                  <a:lnTo>
                    <a:pt x="129" y="30"/>
                  </a:lnTo>
                  <a:lnTo>
                    <a:pt x="131" y="30"/>
                  </a:lnTo>
                  <a:lnTo>
                    <a:pt x="134" y="29"/>
                  </a:lnTo>
                  <a:lnTo>
                    <a:pt x="136" y="26"/>
                  </a:lnTo>
                  <a:lnTo>
                    <a:pt x="138" y="25"/>
                  </a:lnTo>
                  <a:lnTo>
                    <a:pt x="140" y="23"/>
                  </a:lnTo>
                  <a:lnTo>
                    <a:pt x="141" y="20"/>
                  </a:lnTo>
                  <a:lnTo>
                    <a:pt x="142" y="18"/>
                  </a:lnTo>
                  <a:lnTo>
                    <a:pt x="144" y="15"/>
                  </a:lnTo>
                  <a:lnTo>
                    <a:pt x="142" y="11"/>
                  </a:lnTo>
                  <a:lnTo>
                    <a:pt x="141" y="8"/>
                  </a:lnTo>
                  <a:lnTo>
                    <a:pt x="140" y="6"/>
                  </a:lnTo>
                  <a:lnTo>
                    <a:pt x="138" y="4"/>
                  </a:lnTo>
                  <a:lnTo>
                    <a:pt x="136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29" y="0"/>
                  </a:lnTo>
                  <a:lnTo>
                    <a:pt x="1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D88C3CC7-FF16-4EE6-8784-43FED74DD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9454356" y="638960"/>
            <a:ext cx="1562100" cy="391318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9B0A24-4AF3-471F-B550-B6ECA0A271C1}"/>
              </a:ext>
            </a:extLst>
          </p:cNvPr>
          <p:cNvSpPr txBox="1"/>
          <p:nvPr/>
        </p:nvSpPr>
        <p:spPr>
          <a:xfrm>
            <a:off x="8612651" y="2122888"/>
            <a:ext cx="323322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Diffuse necking(2): The strain is somewhat uneven in a local area,  but is not concentrated in a specific area.</a:t>
            </a:r>
          </a:p>
        </p:txBody>
      </p:sp>
      <p:sp>
        <p:nvSpPr>
          <p:cNvPr id="42" name="Rectangle: Top Corners Rounded 41">
            <a:extLst>
              <a:ext uri="{FF2B5EF4-FFF2-40B4-BE49-F238E27FC236}">
                <a16:creationId xmlns:a16="http://schemas.microsoft.com/office/drawing/2014/main" id="{F030E608-FD0D-40AE-86BB-0A2CCB27B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9454357" y="3226746"/>
            <a:ext cx="1562100" cy="391318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6AAE29-2C92-4992-B0FE-57B88E4FBC85}"/>
              </a:ext>
            </a:extLst>
          </p:cNvPr>
          <p:cNvSpPr txBox="1"/>
          <p:nvPr/>
        </p:nvSpPr>
        <p:spPr>
          <a:xfrm>
            <a:off x="8612651" y="4724390"/>
            <a:ext cx="323322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600" dirty="0"/>
              <a:t>Crack (4): The strain is concentrated and eventually forms a crack or fracture.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8E9E76-0170-4D84-BCC3-07E8CC1CF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73800"/>
            <a:ext cx="584200" cy="584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A4CD4B-F87F-4BE9-AEF5-4E68C5D5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75738-883E-4D82-874A-987559CF11A8}" type="datetime1">
              <a:rPr lang="en-US" smtClean="0"/>
              <a:t>12/3/2024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9FE27-70E1-44B2-A8D4-22B1FBB9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955-6230-48B4-BD8B-A7C460F75945}" type="slidenum">
              <a:rPr lang="en-US" smtClean="0"/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868E74-8134-8A53-364D-705FBE22E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086" y="2298412"/>
            <a:ext cx="2409825" cy="14001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BA64F1-2F6F-673F-2CA4-BBF0EBDA6D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251" y="3722059"/>
            <a:ext cx="2447925" cy="1419225"/>
          </a:xfrm>
          <a:prstGeom prst="rect">
            <a:avLst/>
          </a:prstGeom>
        </p:spPr>
      </p:pic>
      <p:pic>
        <p:nvPicPr>
          <p:cNvPr id="1026" name="Picture 2" descr="Major strain distribution during different stages of the forming ...">
            <a:extLst>
              <a:ext uri="{FF2B5EF4-FFF2-40B4-BE49-F238E27FC236}">
                <a16:creationId xmlns:a16="http://schemas.microsoft.com/office/drawing/2014/main" id="{702D5338-C26D-0E52-8E85-476529B46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128" y="1605559"/>
            <a:ext cx="4703350" cy="4465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E1ADC271-7A03-E404-2671-E9D8304D2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>
            <a:off x="1407603" y="1784091"/>
            <a:ext cx="975365" cy="395539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3A89C47-937C-EC2B-4523-49324A956A65}"/>
              </a:ext>
            </a:extLst>
          </p:cNvPr>
          <p:cNvSpPr txBox="1"/>
          <p:nvPr/>
        </p:nvSpPr>
        <p:spPr>
          <a:xfrm>
            <a:off x="256542" y="3401888"/>
            <a:ext cx="3233228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Uniform forming2 (1): The strain is evenly distributed. </a:t>
            </a:r>
          </a:p>
          <a:p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872FF3-9C3B-52FA-2C2C-A94FF86FDC52}"/>
              </a:ext>
            </a:extLst>
          </p:cNvPr>
          <p:cNvSpPr txBox="1"/>
          <p:nvPr/>
        </p:nvSpPr>
        <p:spPr>
          <a:xfrm>
            <a:off x="1463904" y="261323"/>
            <a:ext cx="9264193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600" dirty="0">
                <a:latin typeface="+mj-lt"/>
              </a:rPr>
              <a:t>Labeling </a:t>
            </a:r>
            <a:r>
              <a:rPr lang="en-US" sz="3600" dirty="0">
                <a:latin typeface="+mj-lt"/>
              </a:rPr>
              <a:t>Data:</a:t>
            </a:r>
          </a:p>
        </p:txBody>
      </p:sp>
    </p:spTree>
    <p:extLst>
      <p:ext uri="{BB962C8B-B14F-4D97-AF65-F5344CB8AC3E}">
        <p14:creationId xmlns:p14="http://schemas.microsoft.com/office/powerpoint/2010/main" val="3126221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 hidden="1">
            <a:extLst>
              <a:ext uri="{FF2B5EF4-FFF2-40B4-BE49-F238E27FC236}">
                <a16:creationId xmlns:a16="http://schemas.microsoft.com/office/drawing/2014/main" id="{00E293BF-549B-485D-9D6B-4891FBAD4F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Balanced scorecard slide 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5D2A43-E613-4861-B777-A0FBFF474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07800" y="0"/>
            <a:ext cx="584200" cy="584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BF686F-91C6-49D1-A69F-A2D1290E7E30}"/>
              </a:ext>
            </a:extLst>
          </p:cNvPr>
          <p:cNvSpPr txBox="1"/>
          <p:nvPr/>
        </p:nvSpPr>
        <p:spPr>
          <a:xfrm>
            <a:off x="2016422" y="5898819"/>
            <a:ext cx="92641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000" dirty="0"/>
              <a:t>To label 5 different stages in the forming process by experts</a:t>
            </a:r>
          </a:p>
        </p:txBody>
      </p:sp>
      <p:sp>
        <p:nvSpPr>
          <p:cNvPr id="54" name="Rounded Rectangle 75">
            <a:extLst>
              <a:ext uri="{FF2B5EF4-FFF2-40B4-BE49-F238E27FC236}">
                <a16:creationId xmlns:a16="http://schemas.microsoft.com/office/drawing/2014/main" id="{8E056C9B-117C-46A2-9865-3A1EAB43F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3159" y="1447801"/>
            <a:ext cx="8997455" cy="56029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4C1E79D-0449-4A3A-BDF1-B7C21D8C9BFE}"/>
              </a:ext>
            </a:extLst>
          </p:cNvPr>
          <p:cNvSpPr txBox="1"/>
          <p:nvPr/>
        </p:nvSpPr>
        <p:spPr>
          <a:xfrm>
            <a:off x="2972495" y="1604836"/>
            <a:ext cx="636393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600" dirty="0"/>
              <a:t>180mm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CCF5C3-35D5-438D-B1A1-B391E4C87D74}"/>
              </a:ext>
            </a:extLst>
          </p:cNvPr>
          <p:cNvSpPr txBox="1"/>
          <p:nvPr/>
        </p:nvSpPr>
        <p:spPr>
          <a:xfrm>
            <a:off x="4560597" y="1619646"/>
            <a:ext cx="636393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600" dirty="0"/>
              <a:t>120mm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0305A6-4341-4B97-AF83-9294FC6EA63D}"/>
              </a:ext>
            </a:extLst>
          </p:cNvPr>
          <p:cNvSpPr txBox="1"/>
          <p:nvPr/>
        </p:nvSpPr>
        <p:spPr>
          <a:xfrm>
            <a:off x="6356757" y="1581146"/>
            <a:ext cx="636393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600" dirty="0"/>
              <a:t>100mm</a:t>
            </a:r>
          </a:p>
        </p:txBody>
      </p:sp>
      <p:sp>
        <p:nvSpPr>
          <p:cNvPr id="52" name="Rounded Rectangle 81">
            <a:extLst>
              <a:ext uri="{FF2B5EF4-FFF2-40B4-BE49-F238E27FC236}">
                <a16:creationId xmlns:a16="http://schemas.microsoft.com/office/drawing/2014/main" id="{30900DD1-10D4-4CC5-8A1B-5E61D6A87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3160" y="2856640"/>
            <a:ext cx="8934080" cy="566007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  <a:alpha val="2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ounded Rectangle 76">
            <a:extLst>
              <a:ext uri="{FF2B5EF4-FFF2-40B4-BE49-F238E27FC236}">
                <a16:creationId xmlns:a16="http://schemas.microsoft.com/office/drawing/2014/main" id="{F0167C70-F7E1-45CB-A597-2788760D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864" y="2856641"/>
            <a:ext cx="2015063" cy="56029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1036EB8-6531-4024-B522-C5B0CBD9CB88}"/>
              </a:ext>
            </a:extLst>
          </p:cNvPr>
          <p:cNvSpPr txBox="1"/>
          <p:nvPr/>
        </p:nvSpPr>
        <p:spPr>
          <a:xfrm>
            <a:off x="264503" y="3013676"/>
            <a:ext cx="1799788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600" dirty="0"/>
              <a:t>Uniform forming2 (1):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29DDDCB-05EF-44BE-AC30-753F36EE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82625" y="3049381"/>
            <a:ext cx="1216132" cy="174810"/>
            <a:chOff x="2391858" y="3859681"/>
            <a:chExt cx="955977" cy="137415"/>
          </a:xfrm>
        </p:grpSpPr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0F64C25A-5410-479F-9B68-AB07FDC35F87}"/>
                </a:ext>
              </a:extLst>
            </p:cNvPr>
            <p:cNvSpPr/>
            <p:nvPr/>
          </p:nvSpPr>
          <p:spPr>
            <a:xfrm>
              <a:off x="2391858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C15F17AC-8134-40FB-AF7A-D42CCDED1834}"/>
                </a:ext>
              </a:extLst>
            </p:cNvPr>
            <p:cNvSpPr/>
            <p:nvPr/>
          </p:nvSpPr>
          <p:spPr>
            <a:xfrm>
              <a:off x="2596499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5ACA6C4B-875D-4441-BFC8-E86E04FA1989}"/>
                </a:ext>
              </a:extLst>
            </p:cNvPr>
            <p:cNvSpPr/>
            <p:nvPr/>
          </p:nvSpPr>
          <p:spPr>
            <a:xfrm>
              <a:off x="2801140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79A9EDA6-88E7-422F-9C36-DF6F07A56813}"/>
                </a:ext>
              </a:extLst>
            </p:cNvPr>
            <p:cNvSpPr/>
            <p:nvPr/>
          </p:nvSpPr>
          <p:spPr>
            <a:xfrm>
              <a:off x="3005781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905239ED-A0AD-4EA0-8BCD-C69A1024B6A6}"/>
                </a:ext>
              </a:extLst>
            </p:cNvPr>
            <p:cNvSpPr/>
            <p:nvPr/>
          </p:nvSpPr>
          <p:spPr>
            <a:xfrm>
              <a:off x="3210420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8" name="Rounded Rectangle 77">
            <a:extLst>
              <a:ext uri="{FF2B5EF4-FFF2-40B4-BE49-F238E27FC236}">
                <a16:creationId xmlns:a16="http://schemas.microsoft.com/office/drawing/2014/main" id="{D05DC849-1D99-422D-9887-1F0EF21B0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864" y="3579681"/>
            <a:ext cx="2015063" cy="560290"/>
          </a:xfrm>
          <a:prstGeom prst="roundRect">
            <a:avLst>
              <a:gd name="adj" fmla="val 50000"/>
            </a:avLst>
          </a:prstGeom>
          <a:solidFill>
            <a:schemeClr val="tx2">
              <a:alpha val="5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ounded Rectangle 82">
            <a:extLst>
              <a:ext uri="{FF2B5EF4-FFF2-40B4-BE49-F238E27FC236}">
                <a16:creationId xmlns:a16="http://schemas.microsoft.com/office/drawing/2014/main" id="{29849218-BC89-48A6-9FC5-DB736B4F5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3160" y="3579681"/>
            <a:ext cx="8934080" cy="524584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  <a:alpha val="2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C82FD33-AE4E-4E5F-89AE-E423595AE948}"/>
              </a:ext>
            </a:extLst>
          </p:cNvPr>
          <p:cNvSpPr txBox="1"/>
          <p:nvPr/>
        </p:nvSpPr>
        <p:spPr>
          <a:xfrm>
            <a:off x="395661" y="3736715"/>
            <a:ext cx="1537472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600" dirty="0"/>
              <a:t>Diffuse necking(2):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EFAB518-19DF-496F-BE81-B2B0361CA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82625" y="3767676"/>
            <a:ext cx="1216132" cy="174810"/>
            <a:chOff x="2391858" y="3859681"/>
            <a:chExt cx="955977" cy="137415"/>
          </a:xfrm>
        </p:grpSpPr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36D87B05-1B70-419B-83DE-EB4EBCD5B606}"/>
                </a:ext>
              </a:extLst>
            </p:cNvPr>
            <p:cNvSpPr/>
            <p:nvPr/>
          </p:nvSpPr>
          <p:spPr>
            <a:xfrm>
              <a:off x="2391858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AA9DC6F-A9B7-442C-9666-3AF30F41F791}"/>
                </a:ext>
              </a:extLst>
            </p:cNvPr>
            <p:cNvSpPr/>
            <p:nvPr/>
          </p:nvSpPr>
          <p:spPr>
            <a:xfrm>
              <a:off x="2596499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82F4096E-81A3-4053-B039-3F9AB1E76092}"/>
                </a:ext>
              </a:extLst>
            </p:cNvPr>
            <p:cNvSpPr/>
            <p:nvPr/>
          </p:nvSpPr>
          <p:spPr>
            <a:xfrm>
              <a:off x="2801140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DC8D7194-F8DB-419B-A902-B44BE0C2A42C}"/>
                </a:ext>
              </a:extLst>
            </p:cNvPr>
            <p:cNvSpPr/>
            <p:nvPr/>
          </p:nvSpPr>
          <p:spPr>
            <a:xfrm>
              <a:off x="3005781" y="3859681"/>
              <a:ext cx="137415" cy="137415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8CF7F4CC-7195-466C-BD4C-890C70CBF3A0}"/>
                </a:ext>
              </a:extLst>
            </p:cNvPr>
            <p:cNvSpPr/>
            <p:nvPr/>
          </p:nvSpPr>
          <p:spPr>
            <a:xfrm>
              <a:off x="3210420" y="3859681"/>
              <a:ext cx="137415" cy="137415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9" name="Rounded Rectangle 78">
            <a:extLst>
              <a:ext uri="{FF2B5EF4-FFF2-40B4-BE49-F238E27FC236}">
                <a16:creationId xmlns:a16="http://schemas.microsoft.com/office/drawing/2014/main" id="{21EA2319-E031-4C24-97DB-A7C7217BB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864" y="4302721"/>
            <a:ext cx="2015063" cy="56029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ounded Rectangle 83">
            <a:extLst>
              <a:ext uri="{FF2B5EF4-FFF2-40B4-BE49-F238E27FC236}">
                <a16:creationId xmlns:a16="http://schemas.microsoft.com/office/drawing/2014/main" id="{F7DE142E-1626-441F-BA29-B405D6AA9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3160" y="4302721"/>
            <a:ext cx="8934080" cy="560290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  <a:alpha val="2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F372B33-CD3D-4725-9B1E-14B86655D2C8}"/>
              </a:ext>
            </a:extLst>
          </p:cNvPr>
          <p:cNvSpPr txBox="1"/>
          <p:nvPr/>
        </p:nvSpPr>
        <p:spPr>
          <a:xfrm>
            <a:off x="451253" y="4459755"/>
            <a:ext cx="1426288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600" dirty="0"/>
              <a:t>Local necking (3):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F587520-984D-43CC-8984-C88820444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82625" y="4495252"/>
            <a:ext cx="1216132" cy="174810"/>
            <a:chOff x="2391858" y="3859681"/>
            <a:chExt cx="955977" cy="137415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DC745926-E917-4BC6-A9AC-938A2534099B}"/>
                </a:ext>
              </a:extLst>
            </p:cNvPr>
            <p:cNvSpPr/>
            <p:nvPr/>
          </p:nvSpPr>
          <p:spPr>
            <a:xfrm>
              <a:off x="2391858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5051B6DA-6A02-492E-96E6-CA265C2A3897}"/>
                </a:ext>
              </a:extLst>
            </p:cNvPr>
            <p:cNvSpPr/>
            <p:nvPr/>
          </p:nvSpPr>
          <p:spPr>
            <a:xfrm>
              <a:off x="2596499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E4E62532-51DE-4F21-B6E5-912CC6BE8E89}"/>
                </a:ext>
              </a:extLst>
            </p:cNvPr>
            <p:cNvSpPr/>
            <p:nvPr/>
          </p:nvSpPr>
          <p:spPr>
            <a:xfrm>
              <a:off x="2801140" y="3859681"/>
              <a:ext cx="137415" cy="137415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5C9E030-F856-4F1A-9411-EBC21B4E7DBC}"/>
                </a:ext>
              </a:extLst>
            </p:cNvPr>
            <p:cNvSpPr/>
            <p:nvPr/>
          </p:nvSpPr>
          <p:spPr>
            <a:xfrm>
              <a:off x="3005781" y="3859681"/>
              <a:ext cx="137415" cy="137415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642BB26B-9F60-4837-97FE-BCDE869B7663}"/>
                </a:ext>
              </a:extLst>
            </p:cNvPr>
            <p:cNvSpPr/>
            <p:nvPr/>
          </p:nvSpPr>
          <p:spPr>
            <a:xfrm>
              <a:off x="3210420" y="3859681"/>
              <a:ext cx="137415" cy="137415"/>
            </a:xfrm>
            <a:prstGeom prst="ellipse">
              <a:avLst/>
            </a:prstGeom>
            <a:solidFill>
              <a:schemeClr val="accent1">
                <a:alpha val="2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0" name="Rounded Rectangle 79">
            <a:extLst>
              <a:ext uri="{FF2B5EF4-FFF2-40B4-BE49-F238E27FC236}">
                <a16:creationId xmlns:a16="http://schemas.microsoft.com/office/drawing/2014/main" id="{9FB01B4F-0A61-4148-ACB1-6F007336C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6864" y="5025761"/>
            <a:ext cx="2015063" cy="560290"/>
          </a:xfrm>
          <a:prstGeom prst="roundRect">
            <a:avLst>
              <a:gd name="adj" fmla="val 50000"/>
            </a:avLst>
          </a:prstGeom>
          <a:solidFill>
            <a:schemeClr val="tx2">
              <a:alpha val="5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ounded Rectangle 84">
            <a:extLst>
              <a:ext uri="{FF2B5EF4-FFF2-40B4-BE49-F238E27FC236}">
                <a16:creationId xmlns:a16="http://schemas.microsoft.com/office/drawing/2014/main" id="{FC67798E-D16A-4A5F-81D1-7181E4454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3159" y="5025761"/>
            <a:ext cx="8934079" cy="524584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  <a:alpha val="2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16C7348-7C2F-4BAA-BC54-6CF8433B67E2}"/>
              </a:ext>
            </a:extLst>
          </p:cNvPr>
          <p:cNvSpPr txBox="1"/>
          <p:nvPr/>
        </p:nvSpPr>
        <p:spPr>
          <a:xfrm>
            <a:off x="720781" y="5182795"/>
            <a:ext cx="887231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600" dirty="0"/>
              <a:t>Crack (C4):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E76CAE2A-85EE-43F2-BCF5-85B34C19E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82625" y="5218292"/>
            <a:ext cx="1216132" cy="174810"/>
            <a:chOff x="2391858" y="3859681"/>
            <a:chExt cx="955977" cy="137415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D2CCD09E-F1CE-456F-92F7-FC66CEE99933}"/>
                </a:ext>
              </a:extLst>
            </p:cNvPr>
            <p:cNvSpPr/>
            <p:nvPr/>
          </p:nvSpPr>
          <p:spPr>
            <a:xfrm>
              <a:off x="2391858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CA46147D-BACB-436E-A50A-36BAF6B530F3}"/>
                </a:ext>
              </a:extLst>
            </p:cNvPr>
            <p:cNvSpPr/>
            <p:nvPr/>
          </p:nvSpPr>
          <p:spPr>
            <a:xfrm>
              <a:off x="2596499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A18F2ECA-BAAD-4D46-BD17-60939A844C8B}"/>
                </a:ext>
              </a:extLst>
            </p:cNvPr>
            <p:cNvSpPr/>
            <p:nvPr/>
          </p:nvSpPr>
          <p:spPr>
            <a:xfrm>
              <a:off x="2801140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374909C2-8369-4A26-ABFF-DF8758F54D75}"/>
                </a:ext>
              </a:extLst>
            </p:cNvPr>
            <p:cNvSpPr/>
            <p:nvPr/>
          </p:nvSpPr>
          <p:spPr>
            <a:xfrm>
              <a:off x="3005781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DE1C4203-E154-448F-A33C-A3D067EE445F}"/>
                </a:ext>
              </a:extLst>
            </p:cNvPr>
            <p:cNvSpPr/>
            <p:nvPr/>
          </p:nvSpPr>
          <p:spPr>
            <a:xfrm>
              <a:off x="3210420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BFD5BB1-0762-416A-97D5-33A727ACE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224605" y="3039729"/>
            <a:ext cx="1216132" cy="2343721"/>
            <a:chOff x="4096109" y="3859681"/>
            <a:chExt cx="955977" cy="1842352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99CBF493-9CD5-4135-8D96-CBB1D980377E}"/>
                </a:ext>
              </a:extLst>
            </p:cNvPr>
            <p:cNvGrpSpPr/>
            <p:nvPr/>
          </p:nvGrpSpPr>
          <p:grpSpPr>
            <a:xfrm>
              <a:off x="4096109" y="3859681"/>
              <a:ext cx="955977" cy="137415"/>
              <a:chOff x="2391858" y="3859681"/>
              <a:chExt cx="955977" cy="137415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3E0FA79F-42FF-417C-874A-2F7F5092F0C3}"/>
                  </a:ext>
                </a:extLst>
              </p:cNvPr>
              <p:cNvSpPr/>
              <p:nvPr/>
            </p:nvSpPr>
            <p:spPr>
              <a:xfrm>
                <a:off x="2391858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49398133-E3B4-46CE-849B-2D392C0988D3}"/>
                  </a:ext>
                </a:extLst>
              </p:cNvPr>
              <p:cNvSpPr/>
              <p:nvPr/>
            </p:nvSpPr>
            <p:spPr>
              <a:xfrm>
                <a:off x="2596499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15F6FC21-0A6B-4D52-AAA5-879B53AA1BDF}"/>
                  </a:ext>
                </a:extLst>
              </p:cNvPr>
              <p:cNvSpPr/>
              <p:nvPr/>
            </p:nvSpPr>
            <p:spPr>
              <a:xfrm>
                <a:off x="280114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60A76978-2DBF-4FB9-9517-93B2872F4E59}"/>
                  </a:ext>
                </a:extLst>
              </p:cNvPr>
              <p:cNvSpPr/>
              <p:nvPr/>
            </p:nvSpPr>
            <p:spPr>
              <a:xfrm>
                <a:off x="3005781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A92ADC1A-577A-4F9D-99F9-233A3DB79FC1}"/>
                  </a:ext>
                </a:extLst>
              </p:cNvPr>
              <p:cNvSpPr/>
              <p:nvPr/>
            </p:nvSpPr>
            <p:spPr>
              <a:xfrm>
                <a:off x="321042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32C2F2CB-32DE-4A61-99C3-6F72452FDE29}"/>
                </a:ext>
              </a:extLst>
            </p:cNvPr>
            <p:cNvGrpSpPr/>
            <p:nvPr/>
          </p:nvGrpSpPr>
          <p:grpSpPr>
            <a:xfrm>
              <a:off x="4096109" y="4424318"/>
              <a:ext cx="955977" cy="137415"/>
              <a:chOff x="2391858" y="3859681"/>
              <a:chExt cx="955977" cy="137415"/>
            </a:xfrm>
          </p:grpSpPr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CE61A4F4-2123-440E-B167-4B6F59FDC7D4}"/>
                  </a:ext>
                </a:extLst>
              </p:cNvPr>
              <p:cNvSpPr/>
              <p:nvPr/>
            </p:nvSpPr>
            <p:spPr>
              <a:xfrm>
                <a:off x="2391858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464A318C-4808-415D-8D21-1029EDBE5963}"/>
                  </a:ext>
                </a:extLst>
              </p:cNvPr>
              <p:cNvSpPr/>
              <p:nvPr/>
            </p:nvSpPr>
            <p:spPr>
              <a:xfrm>
                <a:off x="2596499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F27890A3-50B0-4B1A-8C2D-8BC8ABA0829A}"/>
                  </a:ext>
                </a:extLst>
              </p:cNvPr>
              <p:cNvSpPr/>
              <p:nvPr/>
            </p:nvSpPr>
            <p:spPr>
              <a:xfrm>
                <a:off x="280114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C28D782F-6DA2-48B8-A9A6-10067EE0EDD0}"/>
                  </a:ext>
                </a:extLst>
              </p:cNvPr>
              <p:cNvSpPr/>
              <p:nvPr/>
            </p:nvSpPr>
            <p:spPr>
              <a:xfrm>
                <a:off x="3005781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53F0E53D-04EA-43FE-A9A2-7224B062B98A}"/>
                  </a:ext>
                </a:extLst>
              </p:cNvPr>
              <p:cNvSpPr/>
              <p:nvPr/>
            </p:nvSpPr>
            <p:spPr>
              <a:xfrm>
                <a:off x="321042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C19B90EE-9C71-4860-AD40-0A2EBA42BD21}"/>
                </a:ext>
              </a:extLst>
            </p:cNvPr>
            <p:cNvGrpSpPr/>
            <p:nvPr/>
          </p:nvGrpSpPr>
          <p:grpSpPr>
            <a:xfrm>
              <a:off x="4096109" y="4996251"/>
              <a:ext cx="955977" cy="137415"/>
              <a:chOff x="2391858" y="3859681"/>
              <a:chExt cx="955977" cy="137415"/>
            </a:xfrm>
          </p:grpSpPr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5B3A3932-03B2-48D1-B208-3E2AF0263406}"/>
                  </a:ext>
                </a:extLst>
              </p:cNvPr>
              <p:cNvSpPr/>
              <p:nvPr/>
            </p:nvSpPr>
            <p:spPr>
              <a:xfrm>
                <a:off x="2391858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3DECD5D4-22D4-405B-90E8-2492D6B0AD4D}"/>
                  </a:ext>
                </a:extLst>
              </p:cNvPr>
              <p:cNvSpPr/>
              <p:nvPr/>
            </p:nvSpPr>
            <p:spPr>
              <a:xfrm>
                <a:off x="2596499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5B06D7D8-9332-4686-8B8E-F77F39C83F29}"/>
                  </a:ext>
                </a:extLst>
              </p:cNvPr>
              <p:cNvSpPr/>
              <p:nvPr/>
            </p:nvSpPr>
            <p:spPr>
              <a:xfrm>
                <a:off x="280114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E1CF87CC-15B4-4A08-9CBC-6C221ED84554}"/>
                  </a:ext>
                </a:extLst>
              </p:cNvPr>
              <p:cNvSpPr/>
              <p:nvPr/>
            </p:nvSpPr>
            <p:spPr>
              <a:xfrm>
                <a:off x="3005781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3AB43D97-F70A-4E03-B9D7-51E3EB42AA67}"/>
                  </a:ext>
                </a:extLst>
              </p:cNvPr>
              <p:cNvSpPr/>
              <p:nvPr/>
            </p:nvSpPr>
            <p:spPr>
              <a:xfrm>
                <a:off x="321042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A2794A44-DBBF-46BE-B323-A1122779D187}"/>
                </a:ext>
              </a:extLst>
            </p:cNvPr>
            <p:cNvGrpSpPr/>
            <p:nvPr/>
          </p:nvGrpSpPr>
          <p:grpSpPr>
            <a:xfrm>
              <a:off x="4096109" y="5564618"/>
              <a:ext cx="955977" cy="137415"/>
              <a:chOff x="2391858" y="3859681"/>
              <a:chExt cx="955977" cy="137415"/>
            </a:xfrm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DA55A4E1-9A04-4D57-B909-DAA306EAED12}"/>
                  </a:ext>
                </a:extLst>
              </p:cNvPr>
              <p:cNvSpPr/>
              <p:nvPr/>
            </p:nvSpPr>
            <p:spPr>
              <a:xfrm>
                <a:off x="2391858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C38D35F-6150-4D83-9A89-6971501AE9A3}"/>
                  </a:ext>
                </a:extLst>
              </p:cNvPr>
              <p:cNvSpPr/>
              <p:nvPr/>
            </p:nvSpPr>
            <p:spPr>
              <a:xfrm>
                <a:off x="2596499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E56F0E8E-A234-497D-9CD9-356D3976940C}"/>
                  </a:ext>
                </a:extLst>
              </p:cNvPr>
              <p:cNvSpPr/>
              <p:nvPr/>
            </p:nvSpPr>
            <p:spPr>
              <a:xfrm>
                <a:off x="280114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F52A2BA4-6873-4571-B483-457D102FF9E4}"/>
                  </a:ext>
                </a:extLst>
              </p:cNvPr>
              <p:cNvSpPr/>
              <p:nvPr/>
            </p:nvSpPr>
            <p:spPr>
              <a:xfrm>
                <a:off x="3005781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21307D8B-4EE7-4806-B4C4-6A94C8B7D55A}"/>
                  </a:ext>
                </a:extLst>
              </p:cNvPr>
              <p:cNvSpPr/>
              <p:nvPr/>
            </p:nvSpPr>
            <p:spPr>
              <a:xfrm>
                <a:off x="321042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E5ADFCD-7F99-4EA3-A753-F4387AD53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998322" y="3039729"/>
            <a:ext cx="1216132" cy="2343721"/>
            <a:chOff x="5808224" y="3859681"/>
            <a:chExt cx="955977" cy="184235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0BAA5B7B-1FB8-41C2-9E9E-5A32BB490B3E}"/>
                </a:ext>
              </a:extLst>
            </p:cNvPr>
            <p:cNvGrpSpPr/>
            <p:nvPr/>
          </p:nvGrpSpPr>
          <p:grpSpPr>
            <a:xfrm>
              <a:off x="5808224" y="3859681"/>
              <a:ext cx="955977" cy="137415"/>
              <a:chOff x="2391858" y="3859681"/>
              <a:chExt cx="955977" cy="137415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A3288AB8-273C-457A-B714-85432FE0BB86}"/>
                  </a:ext>
                </a:extLst>
              </p:cNvPr>
              <p:cNvSpPr/>
              <p:nvPr/>
            </p:nvSpPr>
            <p:spPr>
              <a:xfrm>
                <a:off x="2391858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AEDE8AD7-7867-4BDA-897C-61909A39A52F}"/>
                  </a:ext>
                </a:extLst>
              </p:cNvPr>
              <p:cNvSpPr/>
              <p:nvPr/>
            </p:nvSpPr>
            <p:spPr>
              <a:xfrm>
                <a:off x="2596499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919D8ECD-8777-4384-9A56-4CF4DF13B751}"/>
                  </a:ext>
                </a:extLst>
              </p:cNvPr>
              <p:cNvSpPr/>
              <p:nvPr/>
            </p:nvSpPr>
            <p:spPr>
              <a:xfrm>
                <a:off x="280114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6B3B7BFE-1BFA-4C65-9344-F89249241361}"/>
                  </a:ext>
                </a:extLst>
              </p:cNvPr>
              <p:cNvSpPr/>
              <p:nvPr/>
            </p:nvSpPr>
            <p:spPr>
              <a:xfrm>
                <a:off x="3005781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94C1DBB0-C9DF-4557-B89C-77B912DCB6EC}"/>
                  </a:ext>
                </a:extLst>
              </p:cNvPr>
              <p:cNvSpPr/>
              <p:nvPr/>
            </p:nvSpPr>
            <p:spPr>
              <a:xfrm>
                <a:off x="321042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68D8D85-2445-4FA2-8D26-0A22A70A26B4}"/>
                </a:ext>
              </a:extLst>
            </p:cNvPr>
            <p:cNvGrpSpPr/>
            <p:nvPr/>
          </p:nvGrpSpPr>
          <p:grpSpPr>
            <a:xfrm>
              <a:off x="5808224" y="4424318"/>
              <a:ext cx="955977" cy="137415"/>
              <a:chOff x="2391858" y="3859681"/>
              <a:chExt cx="955977" cy="137415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05F2449C-27B8-49B9-8E9C-ECF74FDAB0BC}"/>
                  </a:ext>
                </a:extLst>
              </p:cNvPr>
              <p:cNvSpPr/>
              <p:nvPr/>
            </p:nvSpPr>
            <p:spPr>
              <a:xfrm>
                <a:off x="2391858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0C81C01C-A947-411E-BBA4-600F6290CCBA}"/>
                  </a:ext>
                </a:extLst>
              </p:cNvPr>
              <p:cNvSpPr/>
              <p:nvPr/>
            </p:nvSpPr>
            <p:spPr>
              <a:xfrm>
                <a:off x="2596499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C106DA0B-491A-4D51-BABF-130E696B5D4B}"/>
                  </a:ext>
                </a:extLst>
              </p:cNvPr>
              <p:cNvSpPr/>
              <p:nvPr/>
            </p:nvSpPr>
            <p:spPr>
              <a:xfrm>
                <a:off x="280114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133A15A0-50FD-4D3F-8EAA-545D7C3F7180}"/>
                  </a:ext>
                </a:extLst>
              </p:cNvPr>
              <p:cNvSpPr/>
              <p:nvPr/>
            </p:nvSpPr>
            <p:spPr>
              <a:xfrm>
                <a:off x="3005781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27184517-854F-41BD-B500-001C9F57029D}"/>
                  </a:ext>
                </a:extLst>
              </p:cNvPr>
              <p:cNvSpPr/>
              <p:nvPr/>
            </p:nvSpPr>
            <p:spPr>
              <a:xfrm>
                <a:off x="321042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AEF228EB-8D9D-4C92-BF09-82B961805C75}"/>
                </a:ext>
              </a:extLst>
            </p:cNvPr>
            <p:cNvGrpSpPr/>
            <p:nvPr/>
          </p:nvGrpSpPr>
          <p:grpSpPr>
            <a:xfrm>
              <a:off x="5808224" y="4996251"/>
              <a:ext cx="955977" cy="137415"/>
              <a:chOff x="2391858" y="3859681"/>
              <a:chExt cx="955977" cy="13741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F7780A7F-AC23-4CE8-9328-0970B543AFA3}"/>
                  </a:ext>
                </a:extLst>
              </p:cNvPr>
              <p:cNvSpPr/>
              <p:nvPr/>
            </p:nvSpPr>
            <p:spPr>
              <a:xfrm>
                <a:off x="2391858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37C3F8D-CC78-4E3F-BCC3-79B929365617}"/>
                  </a:ext>
                </a:extLst>
              </p:cNvPr>
              <p:cNvSpPr/>
              <p:nvPr/>
            </p:nvSpPr>
            <p:spPr>
              <a:xfrm>
                <a:off x="2596499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8FF06C62-B722-4035-BF6C-A75F2E952DEF}"/>
                  </a:ext>
                </a:extLst>
              </p:cNvPr>
              <p:cNvSpPr/>
              <p:nvPr/>
            </p:nvSpPr>
            <p:spPr>
              <a:xfrm>
                <a:off x="280114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E6F3FCC0-744E-42E3-9C56-2677DA412C05}"/>
                  </a:ext>
                </a:extLst>
              </p:cNvPr>
              <p:cNvSpPr/>
              <p:nvPr/>
            </p:nvSpPr>
            <p:spPr>
              <a:xfrm>
                <a:off x="3005781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97E8DE7A-E83A-4438-B295-4D7B713CCCE8}"/>
                  </a:ext>
                </a:extLst>
              </p:cNvPr>
              <p:cNvSpPr/>
              <p:nvPr/>
            </p:nvSpPr>
            <p:spPr>
              <a:xfrm>
                <a:off x="321042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E4D0107C-F4EA-4901-8C0B-983DFF414770}"/>
                </a:ext>
              </a:extLst>
            </p:cNvPr>
            <p:cNvGrpSpPr/>
            <p:nvPr/>
          </p:nvGrpSpPr>
          <p:grpSpPr>
            <a:xfrm>
              <a:off x="5808224" y="5564618"/>
              <a:ext cx="955977" cy="137415"/>
              <a:chOff x="2391858" y="3859681"/>
              <a:chExt cx="955977" cy="137415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2F713837-D0B7-491A-B821-129141DC27A3}"/>
                  </a:ext>
                </a:extLst>
              </p:cNvPr>
              <p:cNvSpPr/>
              <p:nvPr/>
            </p:nvSpPr>
            <p:spPr>
              <a:xfrm>
                <a:off x="2391858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0342F4EF-4F2C-4006-A37C-92FE699FDB34}"/>
                  </a:ext>
                </a:extLst>
              </p:cNvPr>
              <p:cNvSpPr/>
              <p:nvPr/>
            </p:nvSpPr>
            <p:spPr>
              <a:xfrm>
                <a:off x="2596499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89FA8E5-0EF1-4C25-A0D4-AE6A2E65F6F0}"/>
                  </a:ext>
                </a:extLst>
              </p:cNvPr>
              <p:cNvSpPr/>
              <p:nvPr/>
            </p:nvSpPr>
            <p:spPr>
              <a:xfrm>
                <a:off x="280114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73E585D1-A111-440D-BB9E-026F87532AB7}"/>
                  </a:ext>
                </a:extLst>
              </p:cNvPr>
              <p:cNvSpPr/>
              <p:nvPr/>
            </p:nvSpPr>
            <p:spPr>
              <a:xfrm>
                <a:off x="3005781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BA6409FF-0F2F-4A67-A8D7-B5DAFAF24152}"/>
                  </a:ext>
                </a:extLst>
              </p:cNvPr>
              <p:cNvSpPr/>
              <p:nvPr/>
            </p:nvSpPr>
            <p:spPr>
              <a:xfrm>
                <a:off x="321042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878E9E76-0170-4D84-BCC3-07E8CC1CF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273800"/>
            <a:ext cx="584200" cy="584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A4CD4B-F87F-4BE9-AEF5-4E68C5D5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75738-883E-4D82-874A-987559CF11A8}" type="datetime1">
              <a:rPr lang="en-US" smtClean="0"/>
              <a:t>12/3/2024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9FE27-70E1-44B2-A8D4-22B1FBB9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7955-6230-48B4-BD8B-A7C460F75945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A0275FB-40FE-7C19-6477-6D0AE2453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597773" y="3035348"/>
            <a:ext cx="1216132" cy="2343721"/>
            <a:chOff x="5808224" y="3859681"/>
            <a:chExt cx="955977" cy="184235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4916CE1-4266-45FF-3EAB-128669CD7C00}"/>
                </a:ext>
              </a:extLst>
            </p:cNvPr>
            <p:cNvGrpSpPr/>
            <p:nvPr/>
          </p:nvGrpSpPr>
          <p:grpSpPr>
            <a:xfrm>
              <a:off x="5808224" y="3859681"/>
              <a:ext cx="955977" cy="137415"/>
              <a:chOff x="2391858" y="3859681"/>
              <a:chExt cx="955977" cy="137415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963A81D-7C11-987B-B0AD-A2A67AEBB9DD}"/>
                  </a:ext>
                </a:extLst>
              </p:cNvPr>
              <p:cNvSpPr/>
              <p:nvPr/>
            </p:nvSpPr>
            <p:spPr>
              <a:xfrm>
                <a:off x="2391858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749769A-1444-7FEA-44FB-1743C17DB541}"/>
                  </a:ext>
                </a:extLst>
              </p:cNvPr>
              <p:cNvSpPr/>
              <p:nvPr/>
            </p:nvSpPr>
            <p:spPr>
              <a:xfrm>
                <a:off x="2596499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C2833D2D-93E6-F352-ACDC-E0F5C123E9DB}"/>
                  </a:ext>
                </a:extLst>
              </p:cNvPr>
              <p:cNvSpPr/>
              <p:nvPr/>
            </p:nvSpPr>
            <p:spPr>
              <a:xfrm>
                <a:off x="280114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13BB77A-6D47-8514-4B63-08F492693F08}"/>
                  </a:ext>
                </a:extLst>
              </p:cNvPr>
              <p:cNvSpPr/>
              <p:nvPr/>
            </p:nvSpPr>
            <p:spPr>
              <a:xfrm>
                <a:off x="3005781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EA0671D-3D22-B430-6177-91798627BDB7}"/>
                  </a:ext>
                </a:extLst>
              </p:cNvPr>
              <p:cNvSpPr/>
              <p:nvPr/>
            </p:nvSpPr>
            <p:spPr>
              <a:xfrm>
                <a:off x="321042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1BA1ADF-E13E-021E-F148-BDCBC93268EE}"/>
                </a:ext>
              </a:extLst>
            </p:cNvPr>
            <p:cNvGrpSpPr/>
            <p:nvPr/>
          </p:nvGrpSpPr>
          <p:grpSpPr>
            <a:xfrm>
              <a:off x="5808224" y="4424318"/>
              <a:ext cx="955977" cy="137415"/>
              <a:chOff x="2391858" y="3859681"/>
              <a:chExt cx="955977" cy="137415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20BF479-725C-4EB0-B009-FC975FB7EF7E}"/>
                  </a:ext>
                </a:extLst>
              </p:cNvPr>
              <p:cNvSpPr/>
              <p:nvPr/>
            </p:nvSpPr>
            <p:spPr>
              <a:xfrm>
                <a:off x="2391858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61B559B-2317-455F-C3D5-336B4986722B}"/>
                  </a:ext>
                </a:extLst>
              </p:cNvPr>
              <p:cNvSpPr/>
              <p:nvPr/>
            </p:nvSpPr>
            <p:spPr>
              <a:xfrm>
                <a:off x="2596499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BADC32D-BD8B-394E-C36E-D81DED0F0B5B}"/>
                  </a:ext>
                </a:extLst>
              </p:cNvPr>
              <p:cNvSpPr/>
              <p:nvPr/>
            </p:nvSpPr>
            <p:spPr>
              <a:xfrm>
                <a:off x="280114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2E1E29CA-C3A9-D75F-C3F8-C6505C2D39F5}"/>
                  </a:ext>
                </a:extLst>
              </p:cNvPr>
              <p:cNvSpPr/>
              <p:nvPr/>
            </p:nvSpPr>
            <p:spPr>
              <a:xfrm>
                <a:off x="3005781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A019985D-BCE5-2152-A3F7-9DA2C200DC19}"/>
                  </a:ext>
                </a:extLst>
              </p:cNvPr>
              <p:cNvSpPr/>
              <p:nvPr/>
            </p:nvSpPr>
            <p:spPr>
              <a:xfrm>
                <a:off x="321042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327B479-14A8-71D9-6C75-92BC9B798597}"/>
                </a:ext>
              </a:extLst>
            </p:cNvPr>
            <p:cNvGrpSpPr/>
            <p:nvPr/>
          </p:nvGrpSpPr>
          <p:grpSpPr>
            <a:xfrm>
              <a:off x="5808224" y="4996251"/>
              <a:ext cx="955977" cy="137415"/>
              <a:chOff x="2391858" y="3859681"/>
              <a:chExt cx="955977" cy="137415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911ED91-56DF-89B8-6036-1DDD9CBAE84B}"/>
                  </a:ext>
                </a:extLst>
              </p:cNvPr>
              <p:cNvSpPr/>
              <p:nvPr/>
            </p:nvSpPr>
            <p:spPr>
              <a:xfrm>
                <a:off x="2391858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843E80B-5E5A-3BD6-9672-D6B5E25FBC64}"/>
                  </a:ext>
                </a:extLst>
              </p:cNvPr>
              <p:cNvSpPr/>
              <p:nvPr/>
            </p:nvSpPr>
            <p:spPr>
              <a:xfrm>
                <a:off x="2596499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A1817E9E-E652-3E25-5CFB-3EC8E6CF4CBF}"/>
                  </a:ext>
                </a:extLst>
              </p:cNvPr>
              <p:cNvSpPr/>
              <p:nvPr/>
            </p:nvSpPr>
            <p:spPr>
              <a:xfrm>
                <a:off x="280114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19E5330E-3C09-8DDF-DF4C-E3B3E67716D8}"/>
                  </a:ext>
                </a:extLst>
              </p:cNvPr>
              <p:cNvSpPr/>
              <p:nvPr/>
            </p:nvSpPr>
            <p:spPr>
              <a:xfrm>
                <a:off x="3005781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FFB6B8E-B0C3-A9D2-FB8C-163BA57EEFE9}"/>
                  </a:ext>
                </a:extLst>
              </p:cNvPr>
              <p:cNvSpPr/>
              <p:nvPr/>
            </p:nvSpPr>
            <p:spPr>
              <a:xfrm>
                <a:off x="321042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0302B2B-F407-C579-8432-2190F057050B}"/>
                </a:ext>
              </a:extLst>
            </p:cNvPr>
            <p:cNvGrpSpPr/>
            <p:nvPr/>
          </p:nvGrpSpPr>
          <p:grpSpPr>
            <a:xfrm>
              <a:off x="5808224" y="5564618"/>
              <a:ext cx="955977" cy="137415"/>
              <a:chOff x="2391858" y="3859681"/>
              <a:chExt cx="955977" cy="137415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7441AFB-9BEF-AFB8-710F-36BA4833320D}"/>
                  </a:ext>
                </a:extLst>
              </p:cNvPr>
              <p:cNvSpPr/>
              <p:nvPr/>
            </p:nvSpPr>
            <p:spPr>
              <a:xfrm>
                <a:off x="2391858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90CF077-A068-7C0C-4145-854EF3C38021}"/>
                  </a:ext>
                </a:extLst>
              </p:cNvPr>
              <p:cNvSpPr/>
              <p:nvPr/>
            </p:nvSpPr>
            <p:spPr>
              <a:xfrm>
                <a:off x="2596499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EA22C5E-67A3-B49F-A06A-ACB72C09F1CF}"/>
                  </a:ext>
                </a:extLst>
              </p:cNvPr>
              <p:cNvSpPr/>
              <p:nvPr/>
            </p:nvSpPr>
            <p:spPr>
              <a:xfrm>
                <a:off x="280114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665C3E0-1D15-6CC3-9482-B316B21C2DB6}"/>
                  </a:ext>
                </a:extLst>
              </p:cNvPr>
              <p:cNvSpPr/>
              <p:nvPr/>
            </p:nvSpPr>
            <p:spPr>
              <a:xfrm>
                <a:off x="3005781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679F1F1-7069-7EC4-663C-96C62777EF5D}"/>
                  </a:ext>
                </a:extLst>
              </p:cNvPr>
              <p:cNvSpPr/>
              <p:nvPr/>
            </p:nvSpPr>
            <p:spPr>
              <a:xfrm>
                <a:off x="321042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948744C-43C4-F1AE-3DB3-C072E1E8D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374134" y="3057617"/>
            <a:ext cx="1216132" cy="2343721"/>
            <a:chOff x="5808224" y="3859681"/>
            <a:chExt cx="955977" cy="184235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01F4CC0-79BE-0E34-EA13-0CD8B993FCE0}"/>
                </a:ext>
              </a:extLst>
            </p:cNvPr>
            <p:cNvGrpSpPr/>
            <p:nvPr/>
          </p:nvGrpSpPr>
          <p:grpSpPr>
            <a:xfrm>
              <a:off x="5808224" y="3859681"/>
              <a:ext cx="955977" cy="137415"/>
              <a:chOff x="2391858" y="3859681"/>
              <a:chExt cx="955977" cy="137415"/>
            </a:xfrm>
          </p:grpSpPr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26FBCBD0-8F31-FAD6-A279-CBB4B9CA5C7F}"/>
                  </a:ext>
                </a:extLst>
              </p:cNvPr>
              <p:cNvSpPr/>
              <p:nvPr/>
            </p:nvSpPr>
            <p:spPr>
              <a:xfrm>
                <a:off x="2391858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C34C444C-17C2-D51C-2813-6DD92D187DDC}"/>
                  </a:ext>
                </a:extLst>
              </p:cNvPr>
              <p:cNvSpPr/>
              <p:nvPr/>
            </p:nvSpPr>
            <p:spPr>
              <a:xfrm>
                <a:off x="2596499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9B0B3EF3-35D0-8A73-FF49-52E7DAA7EF86}"/>
                  </a:ext>
                </a:extLst>
              </p:cNvPr>
              <p:cNvSpPr/>
              <p:nvPr/>
            </p:nvSpPr>
            <p:spPr>
              <a:xfrm>
                <a:off x="280114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6F3F5CF0-F224-4B5E-35DD-096D320BE29B}"/>
                  </a:ext>
                </a:extLst>
              </p:cNvPr>
              <p:cNvSpPr/>
              <p:nvPr/>
            </p:nvSpPr>
            <p:spPr>
              <a:xfrm>
                <a:off x="3005781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2CA64741-712C-440A-7FF7-4DE860C3FF47}"/>
                  </a:ext>
                </a:extLst>
              </p:cNvPr>
              <p:cNvSpPr/>
              <p:nvPr/>
            </p:nvSpPr>
            <p:spPr>
              <a:xfrm>
                <a:off x="321042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7240650-A2F8-6663-AB74-E39EABB74F25}"/>
                </a:ext>
              </a:extLst>
            </p:cNvPr>
            <p:cNvGrpSpPr/>
            <p:nvPr/>
          </p:nvGrpSpPr>
          <p:grpSpPr>
            <a:xfrm>
              <a:off x="5808224" y="4424318"/>
              <a:ext cx="955977" cy="137415"/>
              <a:chOff x="2391858" y="3859681"/>
              <a:chExt cx="955977" cy="137415"/>
            </a:xfrm>
          </p:grpSpPr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F1E5556-F6DF-ABE3-21CA-19B80F223CEC}"/>
                  </a:ext>
                </a:extLst>
              </p:cNvPr>
              <p:cNvSpPr/>
              <p:nvPr/>
            </p:nvSpPr>
            <p:spPr>
              <a:xfrm>
                <a:off x="2391858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EBCE03CD-5854-60A7-22F8-F8994F037D1B}"/>
                  </a:ext>
                </a:extLst>
              </p:cNvPr>
              <p:cNvSpPr/>
              <p:nvPr/>
            </p:nvSpPr>
            <p:spPr>
              <a:xfrm>
                <a:off x="2596499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91D0E5EC-988B-B8ED-DE76-2904F37C3CD7}"/>
                  </a:ext>
                </a:extLst>
              </p:cNvPr>
              <p:cNvSpPr/>
              <p:nvPr/>
            </p:nvSpPr>
            <p:spPr>
              <a:xfrm>
                <a:off x="280114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F730BF4C-F967-5F60-00BB-90B2E47E609E}"/>
                  </a:ext>
                </a:extLst>
              </p:cNvPr>
              <p:cNvSpPr/>
              <p:nvPr/>
            </p:nvSpPr>
            <p:spPr>
              <a:xfrm>
                <a:off x="3005781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9E1556F8-9373-982F-CFE3-1E6B4E24BB8B}"/>
                  </a:ext>
                </a:extLst>
              </p:cNvPr>
              <p:cNvSpPr/>
              <p:nvPr/>
            </p:nvSpPr>
            <p:spPr>
              <a:xfrm>
                <a:off x="321042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33DFB6C-0ED1-00ED-E2CE-79A825503EB9}"/>
                </a:ext>
              </a:extLst>
            </p:cNvPr>
            <p:cNvGrpSpPr/>
            <p:nvPr/>
          </p:nvGrpSpPr>
          <p:grpSpPr>
            <a:xfrm>
              <a:off x="5808224" y="4996251"/>
              <a:ext cx="955977" cy="137415"/>
              <a:chOff x="2391858" y="3859681"/>
              <a:chExt cx="955977" cy="137415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A7AFBED2-AA86-26EF-F625-2348EB6DA1F1}"/>
                  </a:ext>
                </a:extLst>
              </p:cNvPr>
              <p:cNvSpPr/>
              <p:nvPr/>
            </p:nvSpPr>
            <p:spPr>
              <a:xfrm>
                <a:off x="2391858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AE231071-2531-F0BE-87C9-3DA3533E4CAF}"/>
                  </a:ext>
                </a:extLst>
              </p:cNvPr>
              <p:cNvSpPr/>
              <p:nvPr/>
            </p:nvSpPr>
            <p:spPr>
              <a:xfrm>
                <a:off x="2596499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89211FB-72E8-E041-EC26-977C1486B404}"/>
                  </a:ext>
                </a:extLst>
              </p:cNvPr>
              <p:cNvSpPr/>
              <p:nvPr/>
            </p:nvSpPr>
            <p:spPr>
              <a:xfrm>
                <a:off x="280114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07CBA8D-8694-34DE-A8F1-60E61D060AFD}"/>
                  </a:ext>
                </a:extLst>
              </p:cNvPr>
              <p:cNvSpPr/>
              <p:nvPr/>
            </p:nvSpPr>
            <p:spPr>
              <a:xfrm>
                <a:off x="3005781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7CF81EE2-49D1-1821-7BDD-F5BFE37DD82D}"/>
                  </a:ext>
                </a:extLst>
              </p:cNvPr>
              <p:cNvSpPr/>
              <p:nvPr/>
            </p:nvSpPr>
            <p:spPr>
              <a:xfrm>
                <a:off x="321042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EDEAF9B-8837-F8D7-5CEF-679F1E8A012D}"/>
                </a:ext>
              </a:extLst>
            </p:cNvPr>
            <p:cNvGrpSpPr/>
            <p:nvPr/>
          </p:nvGrpSpPr>
          <p:grpSpPr>
            <a:xfrm>
              <a:off x="5808224" y="5564618"/>
              <a:ext cx="955977" cy="137415"/>
              <a:chOff x="2391858" y="3859681"/>
              <a:chExt cx="955977" cy="137415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16B729BD-27E1-FEA3-5128-DFB17B3A9264}"/>
                  </a:ext>
                </a:extLst>
              </p:cNvPr>
              <p:cNvSpPr/>
              <p:nvPr/>
            </p:nvSpPr>
            <p:spPr>
              <a:xfrm>
                <a:off x="2391858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50662B7-8473-D942-278B-9136F0BEF60A}"/>
                  </a:ext>
                </a:extLst>
              </p:cNvPr>
              <p:cNvSpPr/>
              <p:nvPr/>
            </p:nvSpPr>
            <p:spPr>
              <a:xfrm>
                <a:off x="2596499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73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B3F56A2-5316-7F2F-1575-96B92BC1CFF1}"/>
                  </a:ext>
                </a:extLst>
              </p:cNvPr>
              <p:cNvSpPr/>
              <p:nvPr/>
            </p:nvSpPr>
            <p:spPr>
              <a:xfrm>
                <a:off x="280114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5A43244-6102-F7CB-545B-98F1451BCF10}"/>
                  </a:ext>
                </a:extLst>
              </p:cNvPr>
              <p:cNvSpPr/>
              <p:nvPr/>
            </p:nvSpPr>
            <p:spPr>
              <a:xfrm>
                <a:off x="3005781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733B9ED-ECD2-A911-54F5-E22965D86064}"/>
                  </a:ext>
                </a:extLst>
              </p:cNvPr>
              <p:cNvSpPr/>
              <p:nvPr/>
            </p:nvSpPr>
            <p:spPr>
              <a:xfrm>
                <a:off x="3210420" y="3859681"/>
                <a:ext cx="137415" cy="137415"/>
              </a:xfrm>
              <a:prstGeom prst="ellipse">
                <a:avLst/>
              </a:prstGeom>
              <a:solidFill>
                <a:schemeClr val="accent1">
                  <a:alpha val="2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02" name="TextBox 201">
            <a:extLst>
              <a:ext uri="{FF2B5EF4-FFF2-40B4-BE49-F238E27FC236}">
                <a16:creationId xmlns:a16="http://schemas.microsoft.com/office/drawing/2014/main" id="{563F6996-B359-DA41-36BD-2BB40DEF88B0}"/>
              </a:ext>
            </a:extLst>
          </p:cNvPr>
          <p:cNvSpPr txBox="1"/>
          <p:nvPr/>
        </p:nvSpPr>
        <p:spPr>
          <a:xfrm>
            <a:off x="8045202" y="1604214"/>
            <a:ext cx="532198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600" dirty="0"/>
              <a:t>60mm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197AC4E-1C4C-806C-8EB9-44ECD641EB24}"/>
              </a:ext>
            </a:extLst>
          </p:cNvPr>
          <p:cNvSpPr txBox="1"/>
          <p:nvPr/>
        </p:nvSpPr>
        <p:spPr>
          <a:xfrm>
            <a:off x="9907442" y="1601793"/>
            <a:ext cx="532198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600" dirty="0"/>
              <a:t>20mm</a:t>
            </a:r>
          </a:p>
        </p:txBody>
      </p:sp>
      <p:sp>
        <p:nvSpPr>
          <p:cNvPr id="76" name="Rounded Rectangle 81">
            <a:extLst>
              <a:ext uri="{FF2B5EF4-FFF2-40B4-BE49-F238E27FC236}">
                <a16:creationId xmlns:a16="http://schemas.microsoft.com/office/drawing/2014/main" id="{AF39C947-263F-ECF4-4269-E66B8A2A3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75691" y="2168891"/>
            <a:ext cx="8934080" cy="566007"/>
          </a:xfrm>
          <a:prstGeom prst="roundRect">
            <a:avLst>
              <a:gd name="adj" fmla="val 50000"/>
            </a:avLst>
          </a:prstGeom>
          <a:solidFill>
            <a:schemeClr val="tx2">
              <a:lumMod val="40000"/>
              <a:lumOff val="60000"/>
              <a:alpha val="2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95B075FE-5AB2-C7DD-B745-623D5DD7F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9395" y="2168892"/>
            <a:ext cx="2015063" cy="560290"/>
          </a:xfrm>
          <a:prstGeom prst="roundRect">
            <a:avLst>
              <a:gd name="adj" fmla="val 50000"/>
            </a:avLst>
          </a:prstGeom>
          <a:solidFill>
            <a:schemeClr val="accent1">
              <a:alpha val="5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C6BBCFC-982F-0B29-09B2-F6BF928D3419}"/>
              </a:ext>
            </a:extLst>
          </p:cNvPr>
          <p:cNvSpPr txBox="1"/>
          <p:nvPr/>
        </p:nvSpPr>
        <p:spPr>
          <a:xfrm>
            <a:off x="257034" y="2325927"/>
            <a:ext cx="1799788" cy="24622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600" dirty="0"/>
              <a:t>Uniform forming1 (0):</a:t>
            </a: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EAA655F6-2E98-8040-3EC6-253A32088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75156" y="2361632"/>
            <a:ext cx="1216132" cy="174810"/>
            <a:chOff x="2391858" y="3859681"/>
            <a:chExt cx="955977" cy="137415"/>
          </a:xfrm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72C8F439-690F-2AC0-5F49-CEDD01ADF004}"/>
                </a:ext>
              </a:extLst>
            </p:cNvPr>
            <p:cNvSpPr/>
            <p:nvPr/>
          </p:nvSpPr>
          <p:spPr>
            <a:xfrm>
              <a:off x="2391858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508D5ED4-705B-01DE-1748-B6D5CF1506CA}"/>
                </a:ext>
              </a:extLst>
            </p:cNvPr>
            <p:cNvSpPr/>
            <p:nvPr/>
          </p:nvSpPr>
          <p:spPr>
            <a:xfrm>
              <a:off x="2596499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91654872-3E73-E72B-085A-7ABDE153DA17}"/>
                </a:ext>
              </a:extLst>
            </p:cNvPr>
            <p:cNvSpPr/>
            <p:nvPr/>
          </p:nvSpPr>
          <p:spPr>
            <a:xfrm>
              <a:off x="2801140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7BD9FC25-8734-E48A-32EC-F5A11F440BC6}"/>
                </a:ext>
              </a:extLst>
            </p:cNvPr>
            <p:cNvSpPr/>
            <p:nvPr/>
          </p:nvSpPr>
          <p:spPr>
            <a:xfrm>
              <a:off x="3005781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040F8FB4-1FFE-C8A3-FB07-A96FB2C8ADB5}"/>
                </a:ext>
              </a:extLst>
            </p:cNvPr>
            <p:cNvSpPr/>
            <p:nvPr/>
          </p:nvSpPr>
          <p:spPr>
            <a:xfrm>
              <a:off x="3210420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7B4CCE3A-470F-AE35-0DCE-0DB67F6DE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90012" y="2375541"/>
            <a:ext cx="1216132" cy="174810"/>
            <a:chOff x="2391858" y="3859681"/>
            <a:chExt cx="955977" cy="137415"/>
          </a:xfrm>
        </p:grpSpPr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C7E37297-2854-3241-261E-2A49F4B04064}"/>
                </a:ext>
              </a:extLst>
            </p:cNvPr>
            <p:cNvSpPr/>
            <p:nvPr/>
          </p:nvSpPr>
          <p:spPr>
            <a:xfrm>
              <a:off x="2391858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17D1EC56-F72E-E520-A9C0-A9B601F0A0D4}"/>
                </a:ext>
              </a:extLst>
            </p:cNvPr>
            <p:cNvSpPr/>
            <p:nvPr/>
          </p:nvSpPr>
          <p:spPr>
            <a:xfrm>
              <a:off x="2596499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D46E8B4C-5929-7100-0989-86E3F74333EB}"/>
                </a:ext>
              </a:extLst>
            </p:cNvPr>
            <p:cNvSpPr/>
            <p:nvPr/>
          </p:nvSpPr>
          <p:spPr>
            <a:xfrm>
              <a:off x="2801140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51A5EAE7-7FE4-C181-2FB3-8ACF9E8ECEDA}"/>
                </a:ext>
              </a:extLst>
            </p:cNvPr>
            <p:cNvSpPr/>
            <p:nvPr/>
          </p:nvSpPr>
          <p:spPr>
            <a:xfrm>
              <a:off x="3005781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DC63FB91-3B74-0436-14EE-494EFAF3EBFD}"/>
                </a:ext>
              </a:extLst>
            </p:cNvPr>
            <p:cNvSpPr/>
            <p:nvPr/>
          </p:nvSpPr>
          <p:spPr>
            <a:xfrm>
              <a:off x="3210420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5ED26090-6460-7C49-24F4-0ADC11614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963099" y="2345972"/>
            <a:ext cx="1216132" cy="174810"/>
            <a:chOff x="2391858" y="3859681"/>
            <a:chExt cx="955977" cy="137415"/>
          </a:xfrm>
        </p:grpSpPr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A63813DC-0851-53C3-B8F9-7698292595A9}"/>
                </a:ext>
              </a:extLst>
            </p:cNvPr>
            <p:cNvSpPr/>
            <p:nvPr/>
          </p:nvSpPr>
          <p:spPr>
            <a:xfrm>
              <a:off x="2391858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9E550EC1-A76F-771F-D80E-957859FF4C26}"/>
                </a:ext>
              </a:extLst>
            </p:cNvPr>
            <p:cNvSpPr/>
            <p:nvPr/>
          </p:nvSpPr>
          <p:spPr>
            <a:xfrm>
              <a:off x="2596499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DD6924AC-2F13-D9C6-E151-3AAA21B95DC0}"/>
                </a:ext>
              </a:extLst>
            </p:cNvPr>
            <p:cNvSpPr/>
            <p:nvPr/>
          </p:nvSpPr>
          <p:spPr>
            <a:xfrm>
              <a:off x="2801140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AA35486F-E4EE-9FE3-C7C5-69DDC7E48A6A}"/>
                </a:ext>
              </a:extLst>
            </p:cNvPr>
            <p:cNvSpPr/>
            <p:nvPr/>
          </p:nvSpPr>
          <p:spPr>
            <a:xfrm>
              <a:off x="3005781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102185C5-276A-0678-B801-B7A63DDE6848}"/>
                </a:ext>
              </a:extLst>
            </p:cNvPr>
            <p:cNvSpPr/>
            <p:nvPr/>
          </p:nvSpPr>
          <p:spPr>
            <a:xfrm>
              <a:off x="3210420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E799DC75-E771-C379-573F-7B9206D88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374660" y="2376872"/>
            <a:ext cx="1216132" cy="174810"/>
            <a:chOff x="2391858" y="3859681"/>
            <a:chExt cx="955977" cy="137415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1071464D-82BF-3EE7-236B-C982FB5322BD}"/>
                </a:ext>
              </a:extLst>
            </p:cNvPr>
            <p:cNvSpPr/>
            <p:nvPr/>
          </p:nvSpPr>
          <p:spPr>
            <a:xfrm>
              <a:off x="2391858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9D70C63A-5BB4-E323-93D3-E4E20EF0E250}"/>
                </a:ext>
              </a:extLst>
            </p:cNvPr>
            <p:cNvSpPr/>
            <p:nvPr/>
          </p:nvSpPr>
          <p:spPr>
            <a:xfrm>
              <a:off x="2596499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48866C15-1973-1A21-FD59-89D538901E02}"/>
                </a:ext>
              </a:extLst>
            </p:cNvPr>
            <p:cNvSpPr/>
            <p:nvPr/>
          </p:nvSpPr>
          <p:spPr>
            <a:xfrm>
              <a:off x="2801140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17B4C0A0-BD46-3437-A45F-7BA933419106}"/>
                </a:ext>
              </a:extLst>
            </p:cNvPr>
            <p:cNvSpPr/>
            <p:nvPr/>
          </p:nvSpPr>
          <p:spPr>
            <a:xfrm>
              <a:off x="3005781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211D9B3D-1C42-BE61-4257-1E4131FB9C36}"/>
                </a:ext>
              </a:extLst>
            </p:cNvPr>
            <p:cNvSpPr/>
            <p:nvPr/>
          </p:nvSpPr>
          <p:spPr>
            <a:xfrm>
              <a:off x="3210420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AAAD8401-3C05-0688-C686-89B0FDBBE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28156" y="2395160"/>
            <a:ext cx="1216132" cy="174810"/>
            <a:chOff x="2391858" y="3859681"/>
            <a:chExt cx="955977" cy="137415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7F3949D2-95DA-DC02-1096-3F7A6AA59662}"/>
                </a:ext>
              </a:extLst>
            </p:cNvPr>
            <p:cNvSpPr/>
            <p:nvPr/>
          </p:nvSpPr>
          <p:spPr>
            <a:xfrm>
              <a:off x="2391858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C715BAAA-5F1C-98CF-1F95-910B6C3655A8}"/>
                </a:ext>
              </a:extLst>
            </p:cNvPr>
            <p:cNvSpPr/>
            <p:nvPr/>
          </p:nvSpPr>
          <p:spPr>
            <a:xfrm>
              <a:off x="2596499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D4D62E93-6768-F8AD-4461-BD40E8848C17}"/>
                </a:ext>
              </a:extLst>
            </p:cNvPr>
            <p:cNvSpPr/>
            <p:nvPr/>
          </p:nvSpPr>
          <p:spPr>
            <a:xfrm>
              <a:off x="2801140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984C1241-29D1-EDFE-6493-568147620184}"/>
                </a:ext>
              </a:extLst>
            </p:cNvPr>
            <p:cNvSpPr/>
            <p:nvPr/>
          </p:nvSpPr>
          <p:spPr>
            <a:xfrm>
              <a:off x="3005781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73EFE547-9BF9-241C-42D3-E20A5892B563}"/>
                </a:ext>
              </a:extLst>
            </p:cNvPr>
            <p:cNvSpPr/>
            <p:nvPr/>
          </p:nvSpPr>
          <p:spPr>
            <a:xfrm>
              <a:off x="3210420" y="3859681"/>
              <a:ext cx="137415" cy="137415"/>
            </a:xfrm>
            <a:prstGeom prst="ellipse">
              <a:avLst/>
            </a:prstGeom>
            <a:solidFill>
              <a:schemeClr val="accent1">
                <a:alpha val="73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2BC80E86-C904-6FF8-26A9-75BF6F556E77}"/>
              </a:ext>
            </a:extLst>
          </p:cNvPr>
          <p:cNvSpPr txBox="1"/>
          <p:nvPr/>
        </p:nvSpPr>
        <p:spPr>
          <a:xfrm>
            <a:off x="1505812" y="325875"/>
            <a:ext cx="9264193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600" dirty="0">
                <a:latin typeface="+mj-lt"/>
              </a:rPr>
              <a:t>Labeling </a:t>
            </a:r>
            <a:r>
              <a:rPr lang="en-US" sz="3600" dirty="0">
                <a:latin typeface="+mj-lt"/>
              </a:rPr>
              <a:t>Data: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6804DFC9-3956-9113-8109-C4A7749ED998}"/>
              </a:ext>
            </a:extLst>
          </p:cNvPr>
          <p:cNvSpPr txBox="1"/>
          <p:nvPr/>
        </p:nvSpPr>
        <p:spPr>
          <a:xfrm>
            <a:off x="893991" y="1969756"/>
            <a:ext cx="11875012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/>
              <a:t>[Trail-1 Trail-2 Trail-3]    [</a:t>
            </a:r>
            <a:r>
              <a:rPr lang="en-US" altLang="zh-CN" sz="1600" dirty="0"/>
              <a:t>Trail-1 Trail-2 Trail-3]    [Trail-1 Trail-2 Trail-3]     [Trail-1 Trail-2 Trail-3]    [Trail-1 Trail-2 Trail-3]</a:t>
            </a:r>
          </a:p>
          <a:p>
            <a:pPr algn="ctr"/>
            <a:endParaRPr lang="en-US" altLang="zh-CN" sz="1600" dirty="0"/>
          </a:p>
          <a:p>
            <a:pPr algn="ctr"/>
            <a:endParaRPr lang="en-US" altLang="zh-CN" sz="1600" dirty="0"/>
          </a:p>
          <a:p>
            <a:pPr algn="ctr"/>
            <a:endParaRPr lang="en-US" altLang="zh-CN" sz="1600" dirty="0"/>
          </a:p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76136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6597A-CE7E-F530-6E6E-2722DB762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 hidden="1">
            <a:extLst>
              <a:ext uri="{FF2B5EF4-FFF2-40B4-BE49-F238E27FC236}">
                <a16:creationId xmlns:a16="http://schemas.microsoft.com/office/drawing/2014/main" id="{08296F0A-2DBC-3F20-0CD8-4213E29767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Balanced scorecard slide 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300950-AEEE-B2AE-977E-74EA99D7E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07800" y="0"/>
            <a:ext cx="584200" cy="584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B1C05B58-143B-CE04-8D91-46BEBEBE215E}"/>
              </a:ext>
            </a:extLst>
          </p:cNvPr>
          <p:cNvSpPr txBox="1"/>
          <p:nvPr/>
        </p:nvSpPr>
        <p:spPr>
          <a:xfrm>
            <a:off x="1505812" y="325875"/>
            <a:ext cx="9264193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600" dirty="0">
                <a:latin typeface="+mj-lt"/>
              </a:rPr>
              <a:t>Augmenting </a:t>
            </a:r>
            <a:r>
              <a:rPr lang="en-US" sz="3600" dirty="0">
                <a:latin typeface="+mj-lt"/>
              </a:rPr>
              <a:t>Data: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797F2BBF-7C96-B718-E836-70506E28B012}"/>
              </a:ext>
            </a:extLst>
          </p:cNvPr>
          <p:cNvSpPr txBox="1"/>
          <p:nvPr/>
        </p:nvSpPr>
        <p:spPr>
          <a:xfrm>
            <a:off x="389242" y="1951672"/>
            <a:ext cx="3912096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200" dirty="0">
                <a:latin typeface="Arial Unicode MS"/>
              </a:rPr>
              <a:t>Annotation statistics:</a:t>
            </a:r>
          </a:p>
          <a:p>
            <a:pPr algn="ctr"/>
            <a:r>
              <a:rPr lang="en-US" sz="3200" dirty="0">
                <a:latin typeface="Arial Unicode MS"/>
              </a:rPr>
              <a:t>Annotation 0: 3980</a:t>
            </a:r>
          </a:p>
          <a:p>
            <a:pPr algn="ctr"/>
            <a:r>
              <a:rPr lang="en-US" sz="3200" dirty="0">
                <a:latin typeface="Arial Unicode MS"/>
              </a:rPr>
              <a:t>Annotation 1: 2456</a:t>
            </a:r>
          </a:p>
          <a:p>
            <a:pPr algn="ctr"/>
            <a:r>
              <a:rPr lang="en-US" sz="3200" dirty="0">
                <a:latin typeface="Arial Unicode MS"/>
              </a:rPr>
              <a:t>Annotation 2: 1991</a:t>
            </a:r>
          </a:p>
          <a:p>
            <a:pPr algn="ctr"/>
            <a:r>
              <a:rPr lang="en-US" sz="3200" dirty="0">
                <a:latin typeface="Arial Unicode MS"/>
              </a:rPr>
              <a:t>Annotation 3: 264</a:t>
            </a:r>
          </a:p>
          <a:p>
            <a:pPr algn="ctr"/>
            <a:r>
              <a:rPr lang="en-US" sz="3200" dirty="0">
                <a:latin typeface="Arial Unicode MS"/>
              </a:rPr>
              <a:t>Annotation 4: 107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86767D1-4AD3-D801-4A95-742C40AEC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56" y="-480954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Augmented label statistics: Label 0: 3980 Label 1: 3271 Label 2: 4619 Label 3: 1458 Label 4: 636</a:t>
            </a: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76790-78A3-9714-F687-2220054DC26A}"/>
              </a:ext>
            </a:extLst>
          </p:cNvPr>
          <p:cNvSpPr txBox="1"/>
          <p:nvPr/>
        </p:nvSpPr>
        <p:spPr>
          <a:xfrm>
            <a:off x="5662282" y="1951672"/>
            <a:ext cx="5837212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Augmented label statistics: Label 0: 3980 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Label 1: 3271 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Label 2: 4619 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Label 3: 1458 </a:t>
            </a:r>
            <a:endParaRPr kumimoji="0" lang="en-US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Label 4: 636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5946CBBF-008D-CF10-970E-F409F1868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9E34E59-8093-4CEB-E98D-ADC3D4F5EB21}"/>
              </a:ext>
            </a:extLst>
          </p:cNvPr>
          <p:cNvSpPr/>
          <p:nvPr/>
        </p:nvSpPr>
        <p:spPr>
          <a:xfrm>
            <a:off x="4476902" y="3116275"/>
            <a:ext cx="965607" cy="7315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56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678A6-15D2-C4BF-943E-C7898AC0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 hidden="1">
            <a:extLst>
              <a:ext uri="{FF2B5EF4-FFF2-40B4-BE49-F238E27FC236}">
                <a16:creationId xmlns:a16="http://schemas.microsoft.com/office/drawing/2014/main" id="{A538370B-3197-A44A-DE40-27874B1128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Balanced scorecard slide 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1E6BD4-4E00-7A1B-EA41-79B554691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07800" y="0"/>
            <a:ext cx="584200" cy="584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D4B544C-3626-AA6F-3A12-C7EECB0EEA3A}"/>
              </a:ext>
            </a:extLst>
          </p:cNvPr>
          <p:cNvSpPr txBox="1"/>
          <p:nvPr/>
        </p:nvSpPr>
        <p:spPr>
          <a:xfrm>
            <a:off x="1463903" y="178039"/>
            <a:ext cx="9264193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600" dirty="0">
                <a:latin typeface="+mj-lt"/>
              </a:rPr>
              <a:t>Extracting  features</a:t>
            </a:r>
            <a:endParaRPr lang="en-US" sz="3600" dirty="0">
              <a:latin typeface="+mj-lt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AACB7BB-DB25-C404-2863-273968EA8C42}"/>
              </a:ext>
            </a:extLst>
          </p:cNvPr>
          <p:cNvSpPr txBox="1"/>
          <p:nvPr/>
        </p:nvSpPr>
        <p:spPr>
          <a:xfrm>
            <a:off x="323405" y="732037"/>
            <a:ext cx="12361151" cy="66177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# HOG (</a:t>
            </a:r>
            <a:r>
              <a:rPr lang="en-US" altLang="zh-CN" dirty="0"/>
              <a:t>Histogram of Oriented Gradients)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def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compute_hog_features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(data, orientations=9,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pixels_per_cell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=(4, 4),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cells_per_block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=(2, 2)):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n =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(data)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side = int(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np.ceil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np.sqrt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(n)))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padded_data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np.zeros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((side * side,))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padded_data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[:n] = data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image =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padded_data.reshape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((side, side))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return hog(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image,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orientations=orientations,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pixels_per_cell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pixels_per_cell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cells_per_block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cells_per_block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block_norm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='L2-Hys',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feature_vector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=True,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)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8F3B253-ADBA-A463-C97A-358E0356C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56" y="-480954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Augmented label statistics: Label 0: 3980 Label 1: 3271 Label 2: 4619 Label 3: 1458 Label 4: 636</a:t>
            </a: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775791C-0FA5-7CE4-F03F-47B6B9943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242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A34725-E637-C267-D763-37A83268B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10" y="1808087"/>
            <a:ext cx="6020640" cy="47155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CF1CFE-5552-FACD-9290-63F32ED02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141" y="1945247"/>
            <a:ext cx="5021776" cy="41648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430058-1379-7852-CF1D-01A075FC929C}"/>
              </a:ext>
            </a:extLst>
          </p:cNvPr>
          <p:cNvSpPr txBox="1"/>
          <p:nvPr/>
        </p:nvSpPr>
        <p:spPr>
          <a:xfrm>
            <a:off x="1463903" y="178039"/>
            <a:ext cx="9264193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600" dirty="0">
                <a:latin typeface="+mj-lt"/>
              </a:rPr>
              <a:t>Clustering by </a:t>
            </a:r>
            <a:r>
              <a:rPr lang="en-US" altLang="zh-CN" sz="3600" dirty="0" err="1">
                <a:latin typeface="+mj-lt"/>
              </a:rPr>
              <a:t>KMeans</a:t>
            </a:r>
            <a:endParaRPr lang="en-US" sz="3600" dirty="0">
              <a:latin typeface="+mj-lt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E97C5BE-DC2A-979A-67BF-45B6B721B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615" y="944404"/>
            <a:ext cx="4379404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Adjusted Rand Index (ARI): 0.2213 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var(--jp-code-font-famil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Normalized Mutual Information (NMI): 0.2738</a:t>
            </a:r>
            <a:r>
              <a:rPr kumimoji="0" lang="zh-CN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876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8186A-4057-A27F-AF0E-FCF09AA6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 hidden="1">
            <a:extLst>
              <a:ext uri="{FF2B5EF4-FFF2-40B4-BE49-F238E27FC236}">
                <a16:creationId xmlns:a16="http://schemas.microsoft.com/office/drawing/2014/main" id="{CF4C14D2-CDBB-6ABE-2358-CCEC03F57E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Balanced scorecard slide 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680EF1-2B82-2573-4109-54B3D1250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607800" y="0"/>
            <a:ext cx="584200" cy="584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8CC9DEA1-EC02-CAAD-2E04-A2C71AC7989D}"/>
              </a:ext>
            </a:extLst>
          </p:cNvPr>
          <p:cNvSpPr txBox="1"/>
          <p:nvPr/>
        </p:nvSpPr>
        <p:spPr>
          <a:xfrm>
            <a:off x="1463903" y="178039"/>
            <a:ext cx="9264193" cy="55399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600" dirty="0">
                <a:latin typeface="+mj-lt"/>
              </a:rPr>
              <a:t>Classifying by Random Forest</a:t>
            </a:r>
            <a:endParaRPr lang="en-US" sz="3600" dirty="0">
              <a:latin typeface="+mj-lt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330F610-1612-5284-B2D7-C2C151966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AutoShape 2" descr="Uploaded image">
            <a:extLst>
              <a:ext uri="{FF2B5EF4-FFF2-40B4-BE49-F238E27FC236}">
                <a16:creationId xmlns:a16="http://schemas.microsoft.com/office/drawing/2014/main" id="{8EA71093-7533-9083-6AB0-EDDFEE71D8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4" descr="Uploaded image">
            <a:extLst>
              <a:ext uri="{FF2B5EF4-FFF2-40B4-BE49-F238E27FC236}">
                <a16:creationId xmlns:a16="http://schemas.microsoft.com/office/drawing/2014/main" id="{742B4A35-2E05-4025-9D11-C18197435B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A57CB6-5B7C-EE87-D427-45E6F4D8AC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00" r="34112" b="67759"/>
          <a:stretch/>
        </p:blipFill>
        <p:spPr>
          <a:xfrm>
            <a:off x="0" y="2050473"/>
            <a:ext cx="6419906" cy="30540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FE3D1C-47ED-F66C-4ADA-099A21912A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53" t="32875" r="-4248" b="-43"/>
          <a:stretch/>
        </p:blipFill>
        <p:spPr>
          <a:xfrm>
            <a:off x="6248400" y="1484664"/>
            <a:ext cx="5583382" cy="3929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15EB2F-E88D-5CE2-A829-98EAD09A7231}"/>
              </a:ext>
            </a:extLst>
          </p:cNvPr>
          <p:cNvSpPr txBox="1"/>
          <p:nvPr/>
        </p:nvSpPr>
        <p:spPr>
          <a:xfrm>
            <a:off x="2872809" y="6035023"/>
            <a:ext cx="4211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Changing Label ‘0 ‘  to Label ‘5’</a:t>
            </a:r>
            <a:endParaRPr lang="zh-CN" altLang="en-US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45DBDBD4-9836-12CB-4D8D-93CD1CF2D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435183"/>
            <a:ext cx="6493765" cy="4308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var(--jp-code-font-family)"/>
              </a:rPr>
              <a:t>Model accuracy: 0.9853204439670605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6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959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E347D20-83CF-4765-A959-68F510CE97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Balanced scorecard slide 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AE457D-0397-41A5-A1CF-4C8062284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2100" y="362320"/>
            <a:ext cx="11607800" cy="61333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016AF48-2AA8-4B78-82AB-CE8B9E71F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701800"/>
            <a:ext cx="12192000" cy="345440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C4CCBA-12AD-4433-A381-A03661E3D927}"/>
              </a:ext>
            </a:extLst>
          </p:cNvPr>
          <p:cNvSpPr txBox="1"/>
          <p:nvPr/>
        </p:nvSpPr>
        <p:spPr>
          <a:xfrm>
            <a:off x="3202669" y="2967335"/>
            <a:ext cx="5786662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j-lt"/>
              </a:rPr>
              <a:t>THANK</a:t>
            </a:r>
            <a:r>
              <a:rPr lang="en-US" sz="6000" dirty="0">
                <a:solidFill>
                  <a:schemeClr val="bg1"/>
                </a:solidFill>
                <a:latin typeface="+mj-lt"/>
              </a:rPr>
              <a:t> YOU</a:t>
            </a:r>
            <a:endParaRPr lang="en-US" sz="66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Rectangle 6">
            <a:hlinkClick r:id="rId5"/>
            <a:extLst>
              <a:ext uri="{FF2B5EF4-FFF2-40B4-BE49-F238E27FC236}">
                <a16:creationId xmlns:a16="http://schemas.microsoft.com/office/drawing/2014/main" id="{FD739A43-7308-4A45-800C-2B124CABF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18100" y="0"/>
            <a:ext cx="1955800" cy="994405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This image is an icon that reads &quot;24Slides.&quot;">
            <a:hlinkClick r:id="rId5"/>
            <a:extLst>
              <a:ext uri="{FF2B5EF4-FFF2-40B4-BE49-F238E27FC236}">
                <a16:creationId xmlns:a16="http://schemas.microsoft.com/office/drawing/2014/main" id="{A2875173-B0D5-4330-A6C0-5027C67D1E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1650" y="345493"/>
            <a:ext cx="1028700" cy="293902"/>
          </a:xfrm>
          <a:prstGeom prst="rect">
            <a:avLst/>
          </a:prstGeom>
          <a:effectLst/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E1D692F-8C4B-47E6-B367-1CB302E31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18100" y="5863595"/>
            <a:ext cx="1955800" cy="994405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20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cD color sc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31737"/>
      </a:accent1>
      <a:accent2>
        <a:srgbClr val="FFC427"/>
      </a:accent2>
      <a:accent3>
        <a:srgbClr val="B4D78E"/>
      </a:accent3>
      <a:accent4>
        <a:srgbClr val="749CD3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dern 04">
      <a:majorFont>
        <a:latin typeface="Century Gothic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89048086_win32_partially" id="{19AF56B3-7F1C-40D5-9734-654D493A6D09}" vid="{F9F14382-8FB4-49A6-A43D-3F3900D1CD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78B0CB5F3625408F002355D1343540" ma:contentTypeVersion="4" ma:contentTypeDescription="Create a new document." ma:contentTypeScope="" ma:versionID="7c247c0118aeabd25cb4a7f68c4fe5e4">
  <xsd:schema xmlns:xsd="http://www.w3.org/2001/XMLSchema" xmlns:xs="http://www.w3.org/2001/XMLSchema" xmlns:p="http://schemas.microsoft.com/office/2006/metadata/properties" xmlns:ns3="d7aba89e-9762-4cc7-9974-c26eabedbaa8" targetNamespace="http://schemas.microsoft.com/office/2006/metadata/properties" ma:root="true" ma:fieldsID="5a1795ab861ddb3dd242a8ca5ec4a7af" ns3:_="">
    <xsd:import namespace="d7aba89e-9762-4cc7-9974-c26eabedbaa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aba89e-9762-4cc7-9974-c26eabedba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024ABD0-81DD-4E89-ADBD-FD03EEA4B679}">
  <ds:schemaRefs>
    <ds:schemaRef ds:uri="http://purl.org/dc/elements/1.1/"/>
    <ds:schemaRef ds:uri="http://schemas.openxmlformats.org/package/2006/metadata/core-properties"/>
    <ds:schemaRef ds:uri="http://purl.org/dc/terms/"/>
    <ds:schemaRef ds:uri="d7aba89e-9762-4cc7-9974-c26eabedbaa8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7AF5EF-C1C6-49BB-8B53-60F7780F1A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aba89e-9762-4cc7-9974-c26eabedba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AD23832-4FF3-481A-BF21-E685DF7493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Balanced scorecard, from 24Slides</Template>
  <TotalTime>6145</TotalTime>
  <Words>569</Words>
  <Application>Microsoft Office PowerPoint</Application>
  <PresentationFormat>Widescreen</PresentationFormat>
  <Paragraphs>92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 Unicode MS</vt:lpstr>
      <vt:lpstr>等线</vt:lpstr>
      <vt:lpstr>Arial</vt:lpstr>
      <vt:lpstr>Calibri</vt:lpstr>
      <vt:lpstr>Calibri Light</vt:lpstr>
      <vt:lpstr>Century Gothic</vt:lpstr>
      <vt:lpstr>Office Theme</vt:lpstr>
      <vt:lpstr>Balanced scorecard slide 1</vt:lpstr>
      <vt:lpstr>PowerPoint Presentation</vt:lpstr>
      <vt:lpstr>Balanced scorecard slide 4</vt:lpstr>
      <vt:lpstr>Balanced scorecard slide 4</vt:lpstr>
      <vt:lpstr>Balanced scorecard slide 5</vt:lpstr>
      <vt:lpstr>Balanced scorecard slide 5</vt:lpstr>
      <vt:lpstr>Balanced scorecard slide 5</vt:lpstr>
      <vt:lpstr>PowerPoint Presentation</vt:lpstr>
      <vt:lpstr>Balanced scorecard slide 5</vt:lpstr>
      <vt:lpstr>Balanced scorecard 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Yong Huang</dc:creator>
  <cp:lastModifiedBy>Yong Huang</cp:lastModifiedBy>
  <cp:revision>7</cp:revision>
  <dcterms:created xsi:type="dcterms:W3CDTF">2024-11-12T14:39:51Z</dcterms:created>
  <dcterms:modified xsi:type="dcterms:W3CDTF">2024-12-07T15:20:06Z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0x0101002F78B0CB5F3625408F002355D1343540</vt:lpwstr>
  </property>
</Properties>
</file>